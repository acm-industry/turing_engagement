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45e3923d3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45e3923d3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45e3923d3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45e3923d3_2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45e3923d3_2_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45e3923d3_2_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45e3923d3_2_6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45e3923d3_2_6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45e3923d3_2_6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5e3923d3_2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45e3923d3_2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45e3923d3_2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45e3923d3_2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45e3923d3_2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45e3923d3_2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45e3923d3_2_1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d45e3923d3_2_1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45e3923d3_2_1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45e3923d3_2_2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d45e3923d3_2_2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d45e3923d3_2_2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45e3923d3_2_2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d45e3923d3_2_2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d45e3923d3_2_2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45e3923d3_2_3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d45e3923d3_2_3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d45e3923d3_2_3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d45e3923d3_2_3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d45e3923d3_2_3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45e3923d3_2_3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45e3923d3_2_4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d45e3923d3_2_4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d45e3923d3_2_4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45e3923d3_2_4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d45e3923d3_2_4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d45e3923d3_2_4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45e3923d3_2_5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g3d45e3923d3_2_53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d45e3923d3_2_53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45e3923d3_2_5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d45e3923d3_2_57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d45e3923d3_2_57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d45e3923d3_2_5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g3d45e3923d3_2_59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d45e3923d3_2_59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45e3923d3_2_6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d45e3923d3_2_6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d45e3923d3_2_6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d45e3923d3_2_6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g3d45e3923d3_2_64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d45e3923d3_2_64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d45e3923d3_2_6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d45e3923d3_2_67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d45e3923d3_2_67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d45e3923d3_2_6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g3d45e3923d3_2_6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g3d45e3923d3_2_6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d45e3923d3_2_7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g3d45e3923d3_2_7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d45e3923d3_2_7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d45e3923d3_2_7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g3d45e3923d3_2_7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d45e3923d3_2_7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400800" y="182880"/>
            <a:ext cx="3840480" cy="3840480"/>
          </a:xfrm>
          <a:prstGeom prst="ellipse">
            <a:avLst/>
          </a:prstGeom>
          <a:solidFill>
            <a:srgbClr val="1A3A6B">
              <a:alpha val="60000"/>
            </a:srgbClr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7040880" y="1005840"/>
            <a:ext cx="2286000" cy="2286000"/>
          </a:xfrm>
          <a:prstGeom prst="ellipse">
            <a:avLst/>
          </a:prstGeom>
          <a:solidFill>
            <a:srgbClr val="EF4444">
              <a:alpha val="27843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731520" y="914400"/>
            <a:ext cx="6400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HITL Systems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731520" y="178308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When AI Shouldn't Decide Alone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731520" y="2487168"/>
            <a:ext cx="502920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731520" y="2651760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Week 4  ·  Turing × UCSB × ACM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731520" y="30175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Irene Fan &amp; Agnibha Sarkar  |  April 3,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731520" y="3337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FA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5A7FA8"/>
                </a:solidFill>
                <a:latin typeface="Calibri"/>
                <a:ea typeface="Calibri"/>
                <a:cs typeface="Calibri"/>
                <a:sym typeface="Calibri"/>
              </a:rPr>
              <a:t>irenefanyiran@gmail.com  ·  agnibha.sarkar@turing.com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Course Schedule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65760" y="96012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365760" y="96012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365760" y="96012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914400" y="105156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Course Kickoff + Problem Scoping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65760" y="173736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365760" y="173736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365760" y="173736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914400" y="182880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Agentic AI &amp; Fundamentals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65760" y="251460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65760" y="251460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365760" y="251460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914400" y="260604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LangGraph &amp; RAG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65760" y="3291840"/>
            <a:ext cx="4114800" cy="6583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65760" y="3291840"/>
            <a:ext cx="475488" cy="658368"/>
          </a:xfrm>
          <a:prstGeom prst="rect">
            <a:avLst/>
          </a:prstGeom>
          <a:solidFill>
            <a:srgbClr val="B91C1C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65760" y="329184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914400" y="338328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HITL Systems  ← YOU ARE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65760" y="406908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365760" y="406908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365760" y="406908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914400" y="416052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[Guest] AI Prototyping / Why Most AI POCs Fail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754880" y="96012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754880" y="96012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4754880" y="96012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303520" y="105156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 Design &amp; Eng Design Doc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754880" y="173736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754880" y="173736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4754880" y="173736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303520" y="182880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[Student Presentations] Architecture + Critique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754880" y="251460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754880" y="251460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4754880" y="251460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303520" y="260604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Coding Copilots in Practice &amp; Dev Cycle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754880" y="329184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4754880" y="329184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4754880" y="329184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303520" y="338328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End-to-End Implementation &amp; Evaluation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754880" y="4069080"/>
            <a:ext cx="411480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4754880" y="4069080"/>
            <a:ext cx="475488" cy="65836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754880" y="4069080"/>
            <a:ext cx="4754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5303520" y="4160520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[Student Presentations] Demo Week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65750" y="987550"/>
            <a:ext cx="4129200" cy="37338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365760" y="987552"/>
            <a:ext cx="4069080" cy="438912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365760" y="987552"/>
            <a:ext cx="4069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48640" y="1664208"/>
            <a:ext cx="329184" cy="329184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48640" y="166420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987552" y="1627632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HITL: What &amp; Why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48640" y="2377440"/>
            <a:ext cx="329184" cy="329184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48640" y="23774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987552" y="2340864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Biggest Problems in HITL Design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48640" y="3090672"/>
            <a:ext cx="329184" cy="329184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48640" y="30906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987552" y="3054096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3 Types of HITL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48640" y="3803904"/>
            <a:ext cx="329184" cy="329184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48640" y="38039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987552" y="376732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Real HITL Examples in the Wild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572000" y="987550"/>
            <a:ext cx="4206300" cy="3733800"/>
          </a:xfrm>
          <a:prstGeom prst="rect">
            <a:avLst/>
          </a:prstGeom>
          <a:solidFill>
            <a:srgbClr val="1A3A6B"/>
          </a:solidFill>
          <a:ln cap="flat" cmpd="sng" w="131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5024" rotWithShape="0" algn="bl" dir="8100000" dist="39384">
              <a:srgbClr val="000000">
                <a:alpha val="18039"/>
              </a:srgbClr>
            </a:outerShdw>
          </a:effectLst>
        </p:spPr>
        <p:txBody>
          <a:bodyPr anchorCtr="0" anchor="ctr" bIns="94500" lIns="94500" spcFirstLastPara="1" rIns="94500" wrap="square" tIns="94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7"/>
          </a:p>
        </p:txBody>
      </p:sp>
      <p:sp>
        <p:nvSpPr>
          <p:cNvPr id="137" name="Google Shape;137;p17"/>
          <p:cNvSpPr/>
          <p:nvPr/>
        </p:nvSpPr>
        <p:spPr>
          <a:xfrm>
            <a:off x="4571950" y="987550"/>
            <a:ext cx="4206300" cy="438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4571950" y="963675"/>
            <a:ext cx="4206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4"/>
              <a:buFont typeface="Calibri"/>
              <a:buNone/>
            </a:pPr>
            <a:r>
              <a:rPr b="1" i="0" lang="en" sz="134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B</a:t>
            </a:r>
            <a:endParaRPr b="0" i="0" sz="13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892040" y="1572768"/>
            <a:ext cx="274320" cy="2743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892040" y="15727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285232" y="1536192"/>
            <a:ext cx="3337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Quick Recap: Week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892040" y="2039112"/>
            <a:ext cx="274320" cy="2743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4892040" y="203911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285232" y="2002536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Full CBRE Pipeline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892040" y="2505456"/>
            <a:ext cx="274320" cy="2743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4892040" y="250545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285232" y="246888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Applying the 3 Types to CBRE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892040" y="2971800"/>
            <a:ext cx="274320" cy="2743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4892040" y="2971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285232" y="2935224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HITL in LangGraph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892040" y="3438144"/>
            <a:ext cx="274320" cy="2743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4892040" y="34381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285232" y="3401568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892040" y="3904488"/>
            <a:ext cx="274320" cy="2743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892040" y="39044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285232" y="386791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In-Class Exercise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892040" y="4370832"/>
            <a:ext cx="274320" cy="27432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4892040" y="43708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285232" y="4334256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Quiz, FoT, Assignment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HITL: What Is It &amp; Why Do We Need It?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65760" y="960120"/>
            <a:ext cx="8412480" cy="960120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365760" y="960120"/>
            <a:ext cx="64008" cy="9601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94360" y="1024128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Power without oversight is dangerous.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94360" y="1417320"/>
            <a:ext cx="7955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An AI right 95% of the time still gets it wrong 1 in 20. At CBRE's scale (thousands of calls/day) — that's dozens of wrong dispatches, wrong 911 calls, every 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65760" y="2084832"/>
            <a:ext cx="2743200" cy="2697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365760" y="2084832"/>
            <a:ext cx="2743200" cy="640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1371600" y="2240280"/>
            <a:ext cx="658368" cy="658368"/>
          </a:xfrm>
          <a:prstGeom prst="ellipse">
            <a:avLst/>
          </a:prstGeom>
          <a:solidFill>
            <a:srgbClr val="3B82F6">
              <a:alpha val="87843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1371600" y="224028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457200" y="299923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What AI Can 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475488" y="340156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Browse the web, write code, classify problems, dispatch maintenance teams, route calls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3291840" y="2084832"/>
            <a:ext cx="2743200" cy="2697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291840" y="2084832"/>
            <a:ext cx="2743200" cy="640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297680" y="2240280"/>
            <a:ext cx="658368" cy="658368"/>
          </a:xfrm>
          <a:prstGeom prst="ellipse">
            <a:avLst/>
          </a:prstGeom>
          <a:solidFill>
            <a:srgbClr val="EF4444">
              <a:alpha val="87843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4297680" y="224028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383280" y="299923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The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3401568" y="340156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Errors compound at scale. One wrong severity call per 20 = dozens per day at CBRE volume.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217920" y="2084832"/>
            <a:ext cx="2743200" cy="2697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217920" y="2084832"/>
            <a:ext cx="2743200" cy="640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223760" y="2240280"/>
            <a:ext cx="658368" cy="658368"/>
          </a:xfrm>
          <a:prstGeom prst="ellipse">
            <a:avLst/>
          </a:prstGeom>
          <a:solidFill>
            <a:srgbClr val="14B8A6">
              <a:alpha val="87843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7223760" y="224028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309360" y="299923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What HITL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327648" y="3401568"/>
            <a:ext cx="25237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Designing the system so humans are involved at the right moments — not everywhere and not nowhere.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Biggest Problems in HITL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These failures appear over and over — in demos and in production.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365760" y="1298448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365760" y="1298448"/>
            <a:ext cx="64008" cy="11155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48640" y="1591056"/>
            <a:ext cx="347472" cy="34747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48640" y="15910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1024128" y="1371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Poor Information Surfacing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024128" y="1755648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AI decides, but the human can't see why. No reasoning, no confidence score, no alternatives. They're asked to approve something they can't evaluate.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800600" y="1298448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4800600" y="1298448"/>
            <a:ext cx="64008" cy="11155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4983480" y="1591056"/>
            <a:ext cx="347472" cy="34747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4983480" y="15910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458968" y="1371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 Early Correction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458968" y="1755648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Users can't steer or fix direction. By the time they see the output, the AI has already taken 10 steps the wrong way. Correction is expensive.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365760" y="2560320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365760" y="2560320"/>
            <a:ext cx="64008" cy="1115568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548640" y="2852928"/>
            <a:ext cx="347472" cy="347472"/>
          </a:xfrm>
          <a:prstGeom prst="ellipse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48640" y="28529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1024128" y="263347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No Learning from Mistakes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024128" y="30175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Same errors repeat. Human corrections go into a void — the system never gets better. Dispatchers fix the same misclassification every week.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4800600" y="2560320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4800600" y="2560320"/>
            <a:ext cx="64008" cy="1115568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4983480" y="2852928"/>
            <a:ext cx="347472" cy="347472"/>
          </a:xfrm>
          <a:prstGeom prst="ellipse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4983480" y="28529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458968" y="263347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Poorly Designed Thresholds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458968" y="30175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"Low confidence" ≠ "high risk." Risk = P(error) × Cost(error). A low-confidence soap dispenser ≠ a low-confidence gas leak.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365760" y="3822192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365760" y="3822192"/>
            <a:ext cx="64008" cy="111556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548640" y="4114800"/>
            <a:ext cx="347472" cy="347472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548640" y="4114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1024128" y="3895344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Humans Are Not Ground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1024128" y="4279392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Dispatchers make mistakes too — they're tired, they misread transcripts. Training on wrong corrections makes the system worse.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800600" y="3822192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4800600" y="3822192"/>
            <a:ext cx="64008" cy="11155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4983480" y="4114800"/>
            <a:ext cx="347472" cy="347472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4983480" y="41148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458968" y="3895344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HITL Degrades Over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458968" y="4279392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Human attention drifts (approval fatigue). Model drifts (data distribution changes). Neither is monitored. The system silently gets worse.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3 Types of HITL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Not all human involvement is the same — three fundamentally different roles.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365760" y="1298448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365760" y="1298448"/>
            <a:ext cx="2743200" cy="640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1371600" y="1481328"/>
            <a:ext cx="658368" cy="658368"/>
          </a:xfrm>
          <a:prstGeom prst="ellipse">
            <a:avLst/>
          </a:prstGeom>
          <a:solidFill>
            <a:srgbClr val="3B82F6">
              <a:alpha val="85098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1371600" y="14813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57200" y="2231136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457200" y="2743200"/>
            <a:ext cx="256032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493776" y="277977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93776" y="298094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calls (offline / async)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57200" y="3291840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493776" y="332841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Affects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493776" y="352958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 call handling &amp; routing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57200" y="3840480"/>
            <a:ext cx="256032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493776" y="387705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93776" y="40782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Doesn't block the pipeline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57200" y="4389120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493776" y="442569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93776" y="462686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log_result node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3291840" y="1298448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3291840" y="1298448"/>
            <a:ext cx="2743200" cy="640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0"/>
          <p:cNvSpPr/>
          <p:nvPr/>
        </p:nvSpPr>
        <p:spPr>
          <a:xfrm>
            <a:off x="4297680" y="1481328"/>
            <a:ext cx="658368" cy="658368"/>
          </a:xfrm>
          <a:prstGeom prst="ellipse">
            <a:avLst/>
          </a:prstGeom>
          <a:solidFill>
            <a:srgbClr val="14B8A6">
              <a:alpha val="85098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4297680" y="14813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3383280" y="2231136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3383280" y="2743200"/>
            <a:ext cx="256032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3419856" y="277977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3419856" y="298094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Before action is executed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3383280" y="3291840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3419856" y="332841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Affects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3419856" y="352958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Current ticket / work order outcome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3383280" y="3840480"/>
            <a:ext cx="256032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3419856" y="387705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419856" y="40782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Blocks until approved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3383280" y="4389120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3419856" y="442569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3419856" y="462686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interrupt() + Command(resume=...)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6217920" y="1298448"/>
            <a:ext cx="274320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6217920" y="1298448"/>
            <a:ext cx="2743200" cy="640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7223760" y="1481328"/>
            <a:ext cx="658368" cy="658368"/>
          </a:xfrm>
          <a:prstGeom prst="ellipse">
            <a:avLst/>
          </a:prstGeom>
          <a:solidFill>
            <a:srgbClr val="EF4444">
              <a:alpha val="8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7223760" y="14813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6309360" y="2231136"/>
            <a:ext cx="2560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Override Agent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6309360" y="2743200"/>
            <a:ext cx="256032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6345936" y="277977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6345936" y="298094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action is executed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6309360" y="3291840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6345936" y="332841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Affects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345936" y="352958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Call trajectory &amp; real-time decisions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6309360" y="3840480"/>
            <a:ext cx="2560320" cy="475488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6345936" y="387705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Pattern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6345936" y="40782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Post-execution correction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309360" y="4389120"/>
            <a:ext cx="256032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6345936" y="4425696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6345936" y="462686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onsolas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update_state()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Teams Start With Override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It's the easiest to build. But is it the right place to start?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74350" y="1314486"/>
            <a:ext cx="2651700" cy="2103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274350" y="1314486"/>
            <a:ext cx="2651700" cy="384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274350" y="1314486"/>
            <a:ext cx="265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65790" y="1789974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1" lang="en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acts, humans fix later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411510" y="2302038"/>
            <a:ext cx="2377500" cy="86880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57230" y="2338614"/>
            <a:ext cx="2286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Wrong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already happened.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2743223" y="1323623"/>
            <a:ext cx="685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246143" y="1323623"/>
            <a:ext cx="2651700" cy="2103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3246143" y="1323623"/>
            <a:ext cx="2651700" cy="3840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3246143" y="1323623"/>
            <a:ext cx="2651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3337582" y="1799111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1" lang="en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proposes, human approves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3383303" y="2311175"/>
            <a:ext cx="2377500" cy="86880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3429023" y="2347751"/>
            <a:ext cx="2286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Prevents the wrong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action from happening.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5669303" y="1323698"/>
            <a:ext cx="685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6217960" y="1323623"/>
            <a:ext cx="2651700" cy="21030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/>
          <p:nvPr/>
        </p:nvSpPr>
        <p:spPr>
          <a:xfrm>
            <a:off x="6217950" y="1291613"/>
            <a:ext cx="2651700" cy="3840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6309400" y="1291663"/>
            <a:ext cx="2560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6309400" y="1799111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50"/>
              <a:buFont typeface="Calibri"/>
              <a:buNone/>
            </a:pPr>
            <a:r>
              <a:rPr b="0" i="1" lang="en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AI learns from corrections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6263670" y="2302038"/>
            <a:ext cx="2377500" cy="86880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6400840" y="2347751"/>
            <a:ext cx="2286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Prevents the wrong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action from being proposed.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65760" y="3566160"/>
            <a:ext cx="8412480" cy="141732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>
            <a:off x="640080" y="3675888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Override handles today's mistakes.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640080" y="4059936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Validator prevents tomorrow's.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640080" y="4425696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0" i="0" lang="en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Trainer eliminates next month's.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4754880" y="4059936"/>
            <a:ext cx="3749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600"/>
              <a:buFont typeface="Calibri"/>
              <a:buNone/>
            </a:pPr>
            <a:r>
              <a:rPr b="1" i="1" lang="en" sz="16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ideal system has all three.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HITL Design Examples in the Wild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These patterns aren't theoretical — you use them every day.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365760" y="1298448"/>
            <a:ext cx="4069080" cy="3611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365760" y="1298448"/>
            <a:ext cx="4069080" cy="411480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365760" y="1298448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Magentic-UI  (Microsoft Research)  ·  9.8k 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502920" y="1792224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Human-centered web agent — all 3 HITL types implemented: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502920" y="2176272"/>
            <a:ext cx="3794760" cy="51206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566928" y="2212848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Co-Planning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566928" y="2450592"/>
            <a:ext cx="749808" cy="16459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566928" y="2450592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1417320" y="2231136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Agent creates plan. Human edits + approves BEFORE execution.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502920" y="2761488"/>
            <a:ext cx="379476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2"/>
          <p:cNvSpPr/>
          <p:nvPr/>
        </p:nvSpPr>
        <p:spPr>
          <a:xfrm>
            <a:off x="566928" y="2798064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Action Guards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566928" y="3035808"/>
            <a:ext cx="749808" cy="16459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566928" y="3035808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1481320" y="2788915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Pauses before irreversible actions. Human approves or denies.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502920" y="3346704"/>
            <a:ext cx="3794760" cy="51206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/>
          <p:nvPr/>
        </p:nvSpPr>
        <p:spPr>
          <a:xfrm>
            <a:off x="566928" y="338328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Co-Tasking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566928" y="3621024"/>
            <a:ext cx="749808" cy="1645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/>
          <p:nvPr/>
        </p:nvSpPr>
        <p:spPr>
          <a:xfrm>
            <a:off x="566928" y="3621024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/>
          <p:nvPr/>
        </p:nvSpPr>
        <p:spPr>
          <a:xfrm>
            <a:off x="1417320" y="340156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Human pauses, takes browser control, corrects, hands 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502920" y="3931920"/>
            <a:ext cx="3794760" cy="5120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2"/>
          <p:cNvSpPr/>
          <p:nvPr/>
        </p:nvSpPr>
        <p:spPr>
          <a:xfrm>
            <a:off x="566928" y="3968496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 Learning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566928" y="4206240"/>
            <a:ext cx="749808" cy="16459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2"/>
          <p:cNvSpPr/>
          <p:nvPr/>
        </p:nvSpPr>
        <p:spPr>
          <a:xfrm>
            <a:off x="566928" y="4206240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>
            <a:off x="1417320" y="3986784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System learns from interactions. Saves plans for reuse.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>
            <a:off x="502920" y="4526280"/>
            <a:ext cx="3794760" cy="27432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566928" y="454456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Key result: 10% human intervention → 71% improvement in task completion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4709160" y="1298448"/>
            <a:ext cx="4069080" cy="3611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4709160" y="1298448"/>
            <a:ext cx="4069080" cy="41148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4709160" y="1298448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+ Cursor — Tools You Use Daily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4846320" y="1810512"/>
            <a:ext cx="3794760" cy="9144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4919472" y="186537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Code: Plan Mode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4919472" y="2157984"/>
            <a:ext cx="1234440" cy="18288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4919472" y="2157984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4919472" y="237744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Before writing any code, Claude creates a plan and waits for your approval. Nothing executes until you say go.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4846320" y="2834640"/>
            <a:ext cx="37947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4919472" y="28895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Code: AskMeQuestions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4919472" y="3182112"/>
            <a:ext cx="1234440" cy="182880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4919472" y="3182112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 (AI-triggered)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2"/>
          <p:cNvSpPr/>
          <p:nvPr/>
        </p:nvSpPr>
        <p:spPr>
          <a:xfrm>
            <a:off x="4919472" y="340156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AI decides it needs human input. Instead of guessing, it explicitly asks. The agent knows its own uncertainty.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4846320" y="3858768"/>
            <a:ext cx="3794760" cy="9144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4919472" y="39136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Cursor: Review / Accept / Reject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4919472" y="4206240"/>
            <a:ext cx="1234440" cy="18288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4919472" y="4206240"/>
            <a:ext cx="1234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 + Trainer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4919472" y="4425696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Cursor proposes diffs. You review, accept, or reject. When you reject + re-prompt, you're also teaching it what you want.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4846320" y="4599432"/>
            <a:ext cx="3794760" cy="25603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4919472" y="4617720"/>
            <a:ext cx="36393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1" lang="en" sz="10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You interact with HITL systems every time you use an AI coding tool.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B: Quick Recap + Week 3 Food for Thought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457200" y="1261872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Week 3 Recap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365760" y="1682496"/>
            <a:ext cx="3977700" cy="475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365760" y="1682496"/>
            <a:ext cx="54864" cy="47548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530352" y="1755648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1737360" y="1755648"/>
            <a:ext cx="251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Why retrieval beats stuffing everything in the prompt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365760" y="2231136"/>
            <a:ext cx="3977700" cy="475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365760" y="2231136"/>
            <a:ext cx="54864" cy="47548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/>
          <p:nvPr/>
        </p:nvSpPr>
        <p:spPr>
          <a:xfrm>
            <a:off x="530352" y="2304288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/>
          <p:nvPr/>
        </p:nvSpPr>
        <p:spPr>
          <a:xfrm>
            <a:off x="1737360" y="2304288"/>
            <a:ext cx="251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Turning meaning into searchable math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365760" y="2779776"/>
            <a:ext cx="3977700" cy="475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365760" y="2779776"/>
            <a:ext cx="54864" cy="475488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530352" y="2852928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3"/>
          <p:cNvSpPr/>
          <p:nvPr/>
        </p:nvSpPr>
        <p:spPr>
          <a:xfrm>
            <a:off x="1737360" y="2852928"/>
            <a:ext cx="251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Nodes, edges, state, wiring a 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365760" y="3328416"/>
            <a:ext cx="3977700" cy="475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365760" y="3328416"/>
            <a:ext cx="54864" cy="47548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530352" y="3401568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1737360" y="3401568"/>
            <a:ext cx="251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Extract → Retrieve → Classify on CBRE transcripts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365760" y="3877056"/>
            <a:ext cx="3977700" cy="475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365760" y="3877056"/>
            <a:ext cx="54864" cy="47548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530352" y="3950208"/>
            <a:ext cx="1143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1737360" y="3950208"/>
            <a:ext cx="251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Agentic RAG with document grading + query rewriting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/>
          <p:nvPr/>
        </p:nvSpPr>
        <p:spPr>
          <a:xfrm>
            <a:off x="4754880" y="1261872"/>
            <a:ext cx="402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Food for Thought — Revisited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4754880" y="1682496"/>
            <a:ext cx="4023300" cy="1627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4754880" y="1682496"/>
            <a:ext cx="54900" cy="1627500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3"/>
          <p:cNvSpPr/>
          <p:nvPr/>
        </p:nvSpPr>
        <p:spPr>
          <a:xfrm>
            <a:off x="4892040" y="1773936"/>
            <a:ext cx="621900" cy="274200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4892040" y="1773936"/>
            <a:ext cx="62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/>
          <p:nvPr/>
        </p:nvSpPr>
        <p:spPr>
          <a:xfrm>
            <a:off x="4892040" y="2157984"/>
            <a:ext cx="3749100" cy="58530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4983480" y="2194560"/>
            <a:ext cx="356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1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"Our pipeline is linear: extract → retrieve → classify. What would a non-linear version look like?"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4892040" y="283464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→ Today's answer: branches for human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/>
          <p:nvPr/>
        </p:nvSpPr>
        <p:spPr>
          <a:xfrm>
            <a:off x="4754880" y="3511296"/>
            <a:ext cx="4023300" cy="16275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4754880" y="3511296"/>
            <a:ext cx="54900" cy="1627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3"/>
          <p:cNvSpPr/>
          <p:nvPr/>
        </p:nvSpPr>
        <p:spPr>
          <a:xfrm>
            <a:off x="4892040" y="3602736"/>
            <a:ext cx="621900" cy="274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892040" y="3602736"/>
            <a:ext cx="62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892040" y="3986784"/>
            <a:ext cx="3749100" cy="58530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4983480" y="4023360"/>
            <a:ext cx="35661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1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"The previous CBRE system called 911 for leaky faucets. How is what we're building fundamentally different?"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4892040" y="466344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HITL + confidence thresholds + trainer loop = accountability.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Full CBRE Pipeline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361200" y="640097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We've been building this in pieces. Time to see the whole thing.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4"/>
          <p:cNvSpPr/>
          <p:nvPr/>
        </p:nvSpPr>
        <p:spPr>
          <a:xfrm>
            <a:off x="475488" y="100584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1920240" y="10058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Entity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4"/>
          <p:cNvSpPr/>
          <p:nvPr/>
        </p:nvSpPr>
        <p:spPr>
          <a:xfrm>
            <a:off x="4846320" y="10058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Transcript → Entities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4"/>
          <p:cNvSpPr/>
          <p:nvPr/>
        </p:nvSpPr>
        <p:spPr>
          <a:xfrm>
            <a:off x="365760" y="1399032"/>
            <a:ext cx="84124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475488" y="144475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1920240" y="144475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RAG + Classification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4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Entities → Retrieve → Classify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365760" y="1837944"/>
            <a:ext cx="8412480" cy="38404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475488" y="188366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Week 4 (today)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4"/>
          <p:cNvSpPr/>
          <p:nvPr/>
        </p:nvSpPr>
        <p:spPr>
          <a:xfrm>
            <a:off x="1920240" y="18836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HITL +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4"/>
          <p:cNvSpPr/>
          <p:nvPr/>
        </p:nvSpPr>
        <p:spPr>
          <a:xfrm>
            <a:off x="4846320" y="188366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Classify → Check → Route (with humans)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4"/>
          <p:cNvSpPr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Complete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320040" y="2788920"/>
            <a:ext cx="18745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320040" y="2788920"/>
            <a:ext cx="18745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4"/>
          <p:cNvSpPr/>
          <p:nvPr/>
        </p:nvSpPr>
        <p:spPr>
          <a:xfrm>
            <a:off x="960120" y="2907792"/>
            <a:ext cx="457200" cy="4572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4"/>
          <p:cNvSpPr/>
          <p:nvPr/>
        </p:nvSpPr>
        <p:spPr>
          <a:xfrm>
            <a:off x="960120" y="2907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411480" y="345643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594360" y="4023360"/>
            <a:ext cx="1188720" cy="237744"/>
          </a:xfrm>
          <a:prstGeom prst="rect">
            <a:avLst/>
          </a:prstGeom>
          <a:solidFill>
            <a:srgbClr val="3B82F6">
              <a:alpha val="85098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"/>
          <p:cNvSpPr/>
          <p:nvPr/>
        </p:nvSpPr>
        <p:spPr>
          <a:xfrm>
            <a:off x="594360" y="402336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2212848" y="2788920"/>
            <a:ext cx="228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2468880" y="2788920"/>
            <a:ext cx="18745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2468880" y="2788920"/>
            <a:ext cx="187452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3108960" y="2907792"/>
            <a:ext cx="457200" cy="4572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3108960" y="2907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2560320" y="345643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2743200" y="4023360"/>
            <a:ext cx="1188720" cy="237744"/>
          </a:xfrm>
          <a:prstGeom prst="rect">
            <a:avLst/>
          </a:prstGeom>
          <a:solidFill>
            <a:srgbClr val="14B8A6">
              <a:alpha val="85098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2743200" y="402336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4361688" y="2788920"/>
            <a:ext cx="228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4617720" y="2788920"/>
            <a:ext cx="18745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4617720" y="2788920"/>
            <a:ext cx="1874520" cy="54864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5257800" y="2907792"/>
            <a:ext cx="457200" cy="457200"/>
          </a:xfrm>
          <a:prstGeom prst="ellipse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"/>
          <p:cNvSpPr/>
          <p:nvPr/>
        </p:nvSpPr>
        <p:spPr>
          <a:xfrm>
            <a:off x="5257800" y="2907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4"/>
          <p:cNvSpPr/>
          <p:nvPr/>
        </p:nvSpPr>
        <p:spPr>
          <a:xfrm>
            <a:off x="4709160" y="345643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4892040" y="4023360"/>
            <a:ext cx="1188720" cy="237744"/>
          </a:xfrm>
          <a:prstGeom prst="rect">
            <a:avLst/>
          </a:prstGeom>
          <a:solidFill>
            <a:srgbClr val="818CF8">
              <a:alpha val="85098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4"/>
          <p:cNvSpPr/>
          <p:nvPr/>
        </p:nvSpPr>
        <p:spPr>
          <a:xfrm>
            <a:off x="4892040" y="402336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6510528" y="2788920"/>
            <a:ext cx="228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6766560" y="2788920"/>
            <a:ext cx="187452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766560" y="2788920"/>
            <a:ext cx="187452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4"/>
          <p:cNvSpPr/>
          <p:nvPr/>
        </p:nvSpPr>
        <p:spPr>
          <a:xfrm>
            <a:off x="7406640" y="2907792"/>
            <a:ext cx="457200" cy="4572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7406640" y="2907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6858000" y="3456432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7040880" y="4023360"/>
            <a:ext cx="1188720" cy="237744"/>
          </a:xfrm>
          <a:prstGeom prst="rect">
            <a:avLst/>
          </a:prstGeom>
          <a:solidFill>
            <a:srgbClr val="F59E0B">
              <a:alpha val="8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7040880" y="4023360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365760" y="44074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↓  confidence ≥ 0.7 &amp; severity ≠ Critical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365760" y="4709160"/>
            <a:ext cx="1828800" cy="2926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365760" y="470916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Auto-Route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3931920" y="440740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↓  Critical OR confidence &lt; 0.7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3931920" y="4709160"/>
            <a:ext cx="1920240" cy="2926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3931920" y="470916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6217920" y="44074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5. Route + Notify  →  6. Log for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/>
          <p:nvPr/>
        </p:nvSpPr>
        <p:spPr>
          <a:xfrm>
            <a:off x="6217920" y="4709160"/>
            <a:ext cx="2560320" cy="2926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6217920" y="470916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Done → Trainer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Applying the 3 Types to CBRE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Now let's map the framework onto our specific pipeline.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320040" y="1298448"/>
            <a:ext cx="2743200" cy="37033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320040" y="1298448"/>
            <a:ext cx="274320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320040" y="129844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411480" y="1783080"/>
            <a:ext cx="2560320" cy="82296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457200" y="1810512"/>
            <a:ext cx="24688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"System: PLUMB-001 (Pipe Leak). Dispatcher: actually PLUMB-002 (Roof Leak) — caller mentioned rain."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/>
          <p:nvPr/>
        </p:nvSpPr>
        <p:spPr>
          <a:xfrm>
            <a:off x="429768" y="2715768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429768" y="2953512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After every routing decision — async, non-blocking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429768" y="3474720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FA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A7FA8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429768" y="3712464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log_result node — captures prediction + human correction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429768" y="423367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429768" y="4471416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Over time: extraction prompt updated to catch weather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3246120" y="1298448"/>
            <a:ext cx="2743200" cy="37033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3246120" y="1298448"/>
            <a:ext cx="2743200" cy="38404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3246120" y="129844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/>
          <p:nvPr/>
        </p:nvSpPr>
        <p:spPr>
          <a:xfrm>
            <a:off x="3337560" y="1783080"/>
            <a:ext cx="2560320" cy="82296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5"/>
          <p:cNvSpPr/>
          <p:nvPr/>
        </p:nvSpPr>
        <p:spPr>
          <a:xfrm>
            <a:off x="3383280" y="1810512"/>
            <a:ext cx="24688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""Critical — Gas leak at Westfield Tower, 3rd floor. Dispatch 911?" Dispatcher confirms or downgrades before anything is sent."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5"/>
          <p:cNvSpPr/>
          <p:nvPr/>
        </p:nvSpPr>
        <p:spPr>
          <a:xfrm>
            <a:off x="3355848" y="2715768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3355848" y="2953512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severity = Critical  OR  confidence &lt; 0.7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3355848" y="3474720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FA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A7FA8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3355848" y="3712464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interrupt() pauses · Command(resume=...) sends decision 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3355848" y="423367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3355848" y="4471416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Prevents bad action. Risk = P(error) × Cost(error), not just confidence.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6172200" y="1298448"/>
            <a:ext cx="2743200" cy="370332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6172200" y="1298448"/>
            <a:ext cx="2743200" cy="38404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6172200" y="1298448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6263640" y="1783080"/>
            <a:ext cx="2560320" cy="822960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6309360" y="1810512"/>
            <a:ext cx="24688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"System auto-routed broken door to general maintenance. Supervisor sees it's a fire door (safety-critical). Overrides to priority team."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6281928" y="2715768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6281928" y="2953512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After routing — post-execution, spot-check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6281928" y="3474720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FA8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5A7FA8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6281928" y="3712464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E8F0FE"/>
                </a:solidFill>
                <a:latin typeface="Consolas"/>
                <a:ea typeface="Consolas"/>
                <a:cs typeface="Consolas"/>
                <a:sym typeface="Consolas"/>
              </a:rPr>
              <a:t>update_state() changes classification in saved checkpoint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6281928" y="4233672"/>
            <a:ext cx="2523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6281928" y="4471416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Downstream nodes see the corrected version. Log = future Trainer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6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Comparing the 3 Types — &amp; Where They Go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Each type maps to a different position in the pipeline.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365760" y="1207008"/>
            <a:ext cx="1920240" cy="34747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6"/>
          <p:cNvSpPr/>
          <p:nvPr/>
        </p:nvSpPr>
        <p:spPr>
          <a:xfrm>
            <a:off x="365760" y="12070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6"/>
          <p:cNvSpPr/>
          <p:nvPr/>
        </p:nvSpPr>
        <p:spPr>
          <a:xfrm>
            <a:off x="2514600" y="1207008"/>
            <a:ext cx="2029968" cy="34747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2514600" y="1207008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4663440" y="1207008"/>
            <a:ext cx="2029968" cy="34747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6"/>
          <p:cNvSpPr/>
          <p:nvPr/>
        </p:nvSpPr>
        <p:spPr>
          <a:xfrm>
            <a:off x="4663440" y="1207008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6812280" y="1207008"/>
            <a:ext cx="2029968" cy="34747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6"/>
          <p:cNvSpPr/>
          <p:nvPr/>
        </p:nvSpPr>
        <p:spPr>
          <a:xfrm>
            <a:off x="6812280" y="1207008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6"/>
          <p:cNvSpPr/>
          <p:nvPr/>
        </p:nvSpPr>
        <p:spPr>
          <a:xfrm>
            <a:off x="365760" y="1591056"/>
            <a:ext cx="1920240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>
            <a:off x="438912" y="1618488"/>
            <a:ext cx="1792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6"/>
          <p:cNvSpPr/>
          <p:nvPr/>
        </p:nvSpPr>
        <p:spPr>
          <a:xfrm>
            <a:off x="2514600" y="1591056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6"/>
          <p:cNvSpPr/>
          <p:nvPr/>
        </p:nvSpPr>
        <p:spPr>
          <a:xfrm>
            <a:off x="2587752" y="1618488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(async)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6"/>
          <p:cNvSpPr/>
          <p:nvPr/>
        </p:nvSpPr>
        <p:spPr>
          <a:xfrm>
            <a:off x="4663440" y="1591056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6"/>
          <p:cNvSpPr/>
          <p:nvPr/>
        </p:nvSpPr>
        <p:spPr>
          <a:xfrm>
            <a:off x="4736592" y="1618488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Before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6812280" y="1591056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6"/>
          <p:cNvSpPr/>
          <p:nvPr/>
        </p:nvSpPr>
        <p:spPr>
          <a:xfrm>
            <a:off x="6885432" y="1618488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After action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/>
          <p:nvPr/>
        </p:nvSpPr>
        <p:spPr>
          <a:xfrm>
            <a:off x="365760" y="1993392"/>
            <a:ext cx="192024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6"/>
          <p:cNvSpPr/>
          <p:nvPr/>
        </p:nvSpPr>
        <p:spPr>
          <a:xfrm>
            <a:off x="438912" y="2020824"/>
            <a:ext cx="1792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Blocks pipeline?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2514600" y="1993392"/>
            <a:ext cx="202996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6"/>
          <p:cNvSpPr/>
          <p:nvPr/>
        </p:nvSpPr>
        <p:spPr>
          <a:xfrm>
            <a:off x="2587752" y="2020824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4663440" y="1993392"/>
            <a:ext cx="202996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6"/>
          <p:cNvSpPr/>
          <p:nvPr/>
        </p:nvSpPr>
        <p:spPr>
          <a:xfrm>
            <a:off x="4736592" y="2020824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6812280" y="1993392"/>
            <a:ext cx="202996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6"/>
          <p:cNvSpPr/>
          <p:nvPr/>
        </p:nvSpPr>
        <p:spPr>
          <a:xfrm>
            <a:off x="6885432" y="2020824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365760" y="2395728"/>
            <a:ext cx="1920240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6"/>
          <p:cNvSpPr/>
          <p:nvPr/>
        </p:nvSpPr>
        <p:spPr>
          <a:xfrm>
            <a:off x="438912" y="2423160"/>
            <a:ext cx="1792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2514600" y="2395728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2587752" y="2423160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 improvement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4663440" y="2395728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6"/>
          <p:cNvSpPr/>
          <p:nvPr/>
        </p:nvSpPr>
        <p:spPr>
          <a:xfrm>
            <a:off x="4736592" y="2423160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Prevents bad 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6812280" y="2395728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6"/>
          <p:cNvSpPr/>
          <p:nvPr/>
        </p:nvSpPr>
        <p:spPr>
          <a:xfrm>
            <a:off x="6885432" y="2423160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Corrects bad 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365760" y="2798064"/>
            <a:ext cx="1920240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6"/>
          <p:cNvSpPr/>
          <p:nvPr/>
        </p:nvSpPr>
        <p:spPr>
          <a:xfrm>
            <a:off x="438912" y="2825496"/>
            <a:ext cx="1792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/>
          <p:nvPr/>
        </p:nvSpPr>
        <p:spPr>
          <a:xfrm>
            <a:off x="2514600" y="2798064"/>
            <a:ext cx="202996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6"/>
          <p:cNvSpPr/>
          <p:nvPr/>
        </p:nvSpPr>
        <p:spPr>
          <a:xfrm>
            <a:off x="2587752" y="2825496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 (batch review)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4663440" y="2798064"/>
            <a:ext cx="202996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6"/>
          <p:cNvSpPr/>
          <p:nvPr/>
        </p:nvSpPr>
        <p:spPr>
          <a:xfrm>
            <a:off x="4736592" y="2825496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(every critical call)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6812280" y="2798064"/>
            <a:ext cx="2029968" cy="365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6"/>
          <p:cNvSpPr/>
          <p:nvPr/>
        </p:nvSpPr>
        <p:spPr>
          <a:xfrm>
            <a:off x="6885432" y="2825496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Medium (spot-check)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365760" y="3200400"/>
            <a:ext cx="1920240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6"/>
          <p:cNvSpPr/>
          <p:nvPr/>
        </p:nvSpPr>
        <p:spPr>
          <a:xfrm>
            <a:off x="438912" y="3227832"/>
            <a:ext cx="179222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2514600" y="3200400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6"/>
          <p:cNvSpPr/>
          <p:nvPr/>
        </p:nvSpPr>
        <p:spPr>
          <a:xfrm>
            <a:off x="2587752" y="3227832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log_result node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6"/>
          <p:cNvSpPr/>
          <p:nvPr/>
        </p:nvSpPr>
        <p:spPr>
          <a:xfrm>
            <a:off x="4663440" y="3200400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6"/>
          <p:cNvSpPr/>
          <p:nvPr/>
        </p:nvSpPr>
        <p:spPr>
          <a:xfrm>
            <a:off x="4736592" y="3227832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interrupt()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6812280" y="3200400"/>
            <a:ext cx="2029968" cy="365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6"/>
          <p:cNvSpPr/>
          <p:nvPr/>
        </p:nvSpPr>
        <p:spPr>
          <a:xfrm>
            <a:off x="6885432" y="3227832"/>
            <a:ext cx="1901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update_state()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457200" y="3730752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They Go in the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6"/>
          <p:cNvSpPr/>
          <p:nvPr/>
        </p:nvSpPr>
        <p:spPr>
          <a:xfrm>
            <a:off x="365760" y="4133088"/>
            <a:ext cx="3474720" cy="74980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6"/>
          <p:cNvSpPr/>
          <p:nvPr/>
        </p:nvSpPr>
        <p:spPr>
          <a:xfrm>
            <a:off x="402336" y="4151376"/>
            <a:ext cx="340156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Extract → Retrieve → Classify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"/>
          <p:cNvSpPr/>
          <p:nvPr/>
        </p:nvSpPr>
        <p:spPr>
          <a:xfrm>
            <a:off x="3840480" y="4133088"/>
            <a:ext cx="137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4014220" y="4123988"/>
            <a:ext cx="1554600" cy="7497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6"/>
          <p:cNvSpPr/>
          <p:nvPr/>
        </p:nvSpPr>
        <p:spPr>
          <a:xfrm>
            <a:off x="4050796" y="4142276"/>
            <a:ext cx="1481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(pre-action gate)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5568700" y="4123988"/>
            <a:ext cx="137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5774428" y="4123863"/>
            <a:ext cx="1371600" cy="7497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6"/>
          <p:cNvSpPr/>
          <p:nvPr/>
        </p:nvSpPr>
        <p:spPr>
          <a:xfrm>
            <a:off x="5792716" y="4142214"/>
            <a:ext cx="1298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Route + Notify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7152865" y="4123988"/>
            <a:ext cx="1371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7351780" y="4123963"/>
            <a:ext cx="1188600" cy="7497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6"/>
          <p:cNvSpPr/>
          <p:nvPr/>
        </p:nvSpPr>
        <p:spPr>
          <a:xfrm>
            <a:off x="7446356" y="4142276"/>
            <a:ext cx="1115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(post-action)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365760" y="4937760"/>
            <a:ext cx="3657600" cy="164592"/>
          </a:xfrm>
          <a:prstGeom prst="rect">
            <a:avLst/>
          </a:prstGeom>
          <a:solidFill>
            <a:srgbClr val="3B82F6">
              <a:alpha val="7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6"/>
          <p:cNvSpPr/>
          <p:nvPr/>
        </p:nvSpPr>
        <p:spPr>
          <a:xfrm>
            <a:off x="402336" y="4956048"/>
            <a:ext cx="35844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TRAINER runs async below the whole pipeline — logging every decision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HITL in LangGraph — Making It Explicit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LangGraph treats HITL as a first-class concept — not an afterthought.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365760" y="1298448"/>
            <a:ext cx="4069080" cy="16276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7"/>
          <p:cNvSpPr/>
          <p:nvPr/>
        </p:nvSpPr>
        <p:spPr>
          <a:xfrm>
            <a:off x="365760" y="1298448"/>
            <a:ext cx="406908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475488" y="1426464"/>
            <a:ext cx="1463040" cy="292608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493776" y="1426464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onsolas"/>
              <a:buNone/>
            </a:pPr>
            <a:r>
              <a:rPr b="0" i="0" lang="en" sz="10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InMemorySaver()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2057400" y="1444752"/>
            <a:ext cx="2240280" cy="256032"/>
          </a:xfrm>
          <a:prstGeom prst="rect">
            <a:avLst/>
          </a:prstGeom>
          <a:solidFill>
            <a:srgbClr val="3B82F6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2075688" y="1463040"/>
            <a:ext cx="2203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for all HITL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475488" y="179222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Checkpointer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475488" y="219456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Saves full pipeline state at every node. Enables pause + resume — the human can review hours later on a different machine.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4800600" y="1298448"/>
            <a:ext cx="4069080" cy="16276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4800600" y="1298448"/>
            <a:ext cx="4069080" cy="54864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4910328" y="1426464"/>
            <a:ext cx="1463040" cy="292608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4928616" y="1426464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50"/>
              <a:buFont typeface="Consolas"/>
              <a:buNone/>
            </a:pPr>
            <a:r>
              <a:rPr b="0" i="0" lang="en" sz="105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interrupt({...})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6492240" y="1444752"/>
            <a:ext cx="2240280" cy="256032"/>
          </a:xfrm>
          <a:prstGeom prst="rect">
            <a:avLst/>
          </a:prstGeom>
          <a:solidFill>
            <a:srgbClr val="14B8A6">
              <a:alpha val="80000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7"/>
          <p:cNvSpPr/>
          <p:nvPr/>
        </p:nvSpPr>
        <p:spPr>
          <a:xfrm>
            <a:off x="6510528" y="1463040"/>
            <a:ext cx="2203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4910328" y="179222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interrupt()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4910328" y="219456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Pauses execution and asks for human input. Returns control to the caller. When re-invoked with same thread_id, resumes from where it stopped.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7"/>
          <p:cNvSpPr/>
          <p:nvPr/>
        </p:nvSpPr>
        <p:spPr>
          <a:xfrm>
            <a:off x="365760" y="3127248"/>
            <a:ext cx="4069080" cy="16276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7"/>
          <p:cNvSpPr/>
          <p:nvPr/>
        </p:nvSpPr>
        <p:spPr>
          <a:xfrm>
            <a:off x="365760" y="3127248"/>
            <a:ext cx="406908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475488" y="3255264"/>
            <a:ext cx="1463040" cy="292608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493776" y="3255264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onsolas"/>
              <a:buNone/>
            </a:pPr>
            <a:r>
              <a:rPr b="0" i="0" lang="en" sz="105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pipeline.update_state()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/>
          <p:nvPr/>
        </p:nvSpPr>
        <p:spPr>
          <a:xfrm>
            <a:off x="2057400" y="3273552"/>
            <a:ext cx="2240280" cy="256032"/>
          </a:xfrm>
          <a:prstGeom prst="rect">
            <a:avLst/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2075688" y="3291840"/>
            <a:ext cx="2203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Override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475488" y="362102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update_state()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7"/>
          <p:cNvSpPr/>
          <p:nvPr/>
        </p:nvSpPr>
        <p:spPr>
          <a:xfrm>
            <a:off x="475488" y="402336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Lets a human modify the saved pipeline state. Downstream nodes that read classification will see the human's corrected version.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7"/>
          <p:cNvSpPr/>
          <p:nvPr/>
        </p:nvSpPr>
        <p:spPr>
          <a:xfrm>
            <a:off x="4800600" y="3127248"/>
            <a:ext cx="4069080" cy="1627632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7"/>
          <p:cNvSpPr/>
          <p:nvPr/>
        </p:nvSpPr>
        <p:spPr>
          <a:xfrm>
            <a:off x="4800600" y="3127248"/>
            <a:ext cx="4069080" cy="54864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4910328" y="3255264"/>
            <a:ext cx="1463040" cy="292608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7"/>
          <p:cNvSpPr/>
          <p:nvPr/>
        </p:nvSpPr>
        <p:spPr>
          <a:xfrm>
            <a:off x="4928616" y="3255264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050"/>
              <a:buFont typeface="Consolas"/>
              <a:buNone/>
            </a:pPr>
            <a:r>
              <a:rPr b="0" i="0" lang="en" sz="1050" u="none" cap="none" strike="noStrik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compile(interrupt_before=[...])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7"/>
          <p:cNvSpPr/>
          <p:nvPr/>
        </p:nvSpPr>
        <p:spPr>
          <a:xfrm>
            <a:off x="6492240" y="3273552"/>
            <a:ext cx="2240280" cy="256032"/>
          </a:xfrm>
          <a:prstGeom prst="rect">
            <a:avLst/>
          </a:prstGeom>
          <a:solidFill>
            <a:srgbClr val="818CF8">
              <a:alpha val="80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6510528" y="3291840"/>
            <a:ext cx="2203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7"/>
          <p:cNvSpPr/>
          <p:nvPr/>
        </p:nvSpPr>
        <p:spPr>
          <a:xfrm>
            <a:off x="4910328" y="362102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interrupt_before / after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7"/>
          <p:cNvSpPr/>
          <p:nvPr/>
        </p:nvSpPr>
        <p:spPr>
          <a:xfrm>
            <a:off x="4910328" y="402336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Pause at specific nodes — before or after they run — without touching node code. Lets you add HITL checkpoints declaratively.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457200" y="16459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HITL Code: Interrupt + Override + Flow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457200" y="80467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The full invoke → pause → review → resume pattern.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365760" y="1234440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interrupt() — Validator Gate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365760" y="1600200"/>
            <a:ext cx="4160400" cy="2057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8"/>
          <p:cNvSpPr/>
          <p:nvPr/>
        </p:nvSpPr>
        <p:spPr>
          <a:xfrm>
            <a:off x="493776" y="1682496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def validate_routing(state):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cls = state["classification"]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if cls["severity"] == "Critical"\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   or cls["confidence"] &lt; 0.7: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    decision = interrupt({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        "question": "Approve routing?",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        "classification": cls,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    })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    if not decision.get("approved"):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        return {"classification": decision["revised"]}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    return 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4709160" y="1234440"/>
            <a:ext cx="406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update_state() — Override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4709160" y="1600200"/>
            <a:ext cx="4069200" cy="12345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8"/>
          <p:cNvSpPr/>
          <p:nvPr/>
        </p:nvSpPr>
        <p:spPr>
          <a:xfrm>
            <a:off x="4967900" y="1851624"/>
            <a:ext cx="35517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config = {"configurable": {"thread_id": "call-001"}}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# Supervisor corrects routing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pipeline.update_state(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    config,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    {"classification": {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        "selected_code": "SAFE-002",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        "reasoning": "Fire door — supervisor override"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    }},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onsolas"/>
              <a:buNone/>
            </a:pPr>
            <a:r>
              <a:rPr b="0" i="0" lang="en" sz="700" u="none" cap="none" strike="noStrik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4709160" y="2907792"/>
            <a:ext cx="406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Full Flow: Invoke → Pause → Review → Resume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4709160" y="3273552"/>
            <a:ext cx="4069200" cy="1828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4967900" y="3890800"/>
            <a:ext cx="3759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config = {"configurable": {"thread_id": "call-001"}}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# 1. Run until interrupt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result = pipeline.invoke(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    {"transcript": transcript}, config)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# 2. Human sees state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state = pipeline.get_state(config)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print(state.next)  # → "validate_routing"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# 3. Approve: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pipeline.invoke(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    Command(resume={"approved": True}), config)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# 3. Or override: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pipeline.invoke(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    Command(resume={"override_code": "SAFE-002"}),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0" i="0" lang="en" sz="6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    config)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365760" y="3749040"/>
            <a:ext cx="416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Trainer Log — Capture Every Correction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365760" y="4114800"/>
            <a:ext cx="4160400" cy="987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8"/>
          <p:cNvSpPr/>
          <p:nvPr/>
        </p:nvSpPr>
        <p:spPr>
          <a:xfrm>
            <a:off x="493776" y="4187952"/>
            <a:ext cx="39045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def log_result(state):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log.append({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  "original": state["classification"],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  "correction": state.get("human_override"),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  "timestamp": datetime.now()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})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0" i="0" lang="en" sz="9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return state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1A3A6B">
              <a:alpha val="60000"/>
            </a:srgbClr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1A3A6B">
              <a:alpha val="60000"/>
            </a:srgbClr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9"/>
          <p:cNvSpPr/>
          <p:nvPr/>
        </p:nvSpPr>
        <p:spPr>
          <a:xfrm>
            <a:off x="3200400" y="-457200"/>
            <a:ext cx="2286000" cy="2286000"/>
          </a:xfrm>
          <a:prstGeom prst="ellipse">
            <a:avLst/>
          </a:prstGeom>
          <a:solidFill>
            <a:srgbClr val="EF4444">
              <a:alpha val="2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9"/>
          <p:cNvSpPr/>
          <p:nvPr/>
        </p:nvSpPr>
        <p:spPr>
          <a:xfrm>
            <a:off x="1645920" y="1005840"/>
            <a:ext cx="5852160" cy="9144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9"/>
          <p:cNvSpPr/>
          <p:nvPr/>
        </p:nvSpPr>
        <p:spPr>
          <a:xfrm>
            <a:off x="1645920" y="100584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TIME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1645920" y="2121408"/>
            <a:ext cx="5852160" cy="438912"/>
          </a:xfrm>
          <a:prstGeom prst="rect">
            <a:avLst/>
          </a:prstGeom>
          <a:solidFill>
            <a:srgbClr val="152A4E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9"/>
          <p:cNvSpPr/>
          <p:nvPr/>
        </p:nvSpPr>
        <p:spPr>
          <a:xfrm>
            <a:off x="1645920" y="2121408"/>
            <a:ext cx="5852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onsolas"/>
              <a:buNone/>
            </a:pPr>
            <a:r>
              <a:rPr b="0" i="0" lang="en" sz="1800" u="none" cap="none" strike="noStrike">
                <a:solidFill>
                  <a:srgbClr val="14B8A6"/>
                </a:solidFill>
                <a:latin typeface="Consolas"/>
                <a:ea typeface="Consolas"/>
                <a:cs typeface="Consolas"/>
                <a:sym typeface="Consolas"/>
              </a:rPr>
              <a:t>hitl_demo.ipynb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9"/>
          <p:cNvSpPr/>
          <p:nvPr/>
        </p:nvSpPr>
        <p:spPr>
          <a:xfrm>
            <a:off x="548640" y="2834640"/>
            <a:ext cx="1828800" cy="5029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9"/>
          <p:cNvSpPr/>
          <p:nvPr/>
        </p:nvSpPr>
        <p:spPr>
          <a:xfrm>
            <a:off x="548640" y="2834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 + Retrieve + Classify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2395728" y="2834640"/>
            <a:ext cx="182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2606040" y="2834640"/>
            <a:ext cx="1828800" cy="50292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9"/>
          <p:cNvSpPr/>
          <p:nvPr/>
        </p:nvSpPr>
        <p:spPr>
          <a:xfrm>
            <a:off x="2606040" y="2834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Validator Gate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/>
          <p:nvPr/>
        </p:nvSpPr>
        <p:spPr>
          <a:xfrm>
            <a:off x="4453128" y="2834640"/>
            <a:ext cx="182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4663440" y="2834640"/>
            <a:ext cx="1828800" cy="502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9"/>
          <p:cNvSpPr/>
          <p:nvPr/>
        </p:nvSpPr>
        <p:spPr>
          <a:xfrm>
            <a:off x="4663440" y="2834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9"/>
          <p:cNvSpPr/>
          <p:nvPr/>
        </p:nvSpPr>
        <p:spPr>
          <a:xfrm>
            <a:off x="6510528" y="2834640"/>
            <a:ext cx="182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9"/>
          <p:cNvSpPr/>
          <p:nvPr/>
        </p:nvSpPr>
        <p:spPr>
          <a:xfrm>
            <a:off x="6720840" y="2834640"/>
            <a:ext cx="1828800" cy="5029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9"/>
          <p:cNvSpPr/>
          <p:nvPr/>
        </p:nvSpPr>
        <p:spPr>
          <a:xfrm>
            <a:off x="6720840" y="28346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Trainer Log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9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Calibri"/>
              <a:buNone/>
            </a:pPr>
            <a:r>
              <a:rPr b="0" i="1" lang="en" sz="13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Week 3 pipeline + HITL checkpoints — validator, override, and trainer log all wired up.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In-Class Exercise: Design the HITL Experience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0"/>
          <p:cNvSpPr/>
          <p:nvPr/>
        </p:nvSpPr>
        <p:spPr>
          <a:xfrm>
            <a:off x="274322" y="945273"/>
            <a:ext cx="8412600" cy="5487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0"/>
          <p:cNvSpPr/>
          <p:nvPr/>
        </p:nvSpPr>
        <p:spPr>
          <a:xfrm>
            <a:off x="411482" y="1000137"/>
            <a:ext cx="8138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Look at the full CBRE pipeline. For each of the 3 HITL types, answer: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274322" y="1640217"/>
            <a:ext cx="2743200" cy="217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274322" y="1640217"/>
            <a:ext cx="2743200" cy="639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"/>
          <p:cNvSpPr/>
          <p:nvPr/>
        </p:nvSpPr>
        <p:spPr>
          <a:xfrm>
            <a:off x="1280163" y="1795665"/>
            <a:ext cx="548700" cy="54870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0"/>
          <p:cNvSpPr/>
          <p:nvPr/>
        </p:nvSpPr>
        <p:spPr>
          <a:xfrm>
            <a:off x="1280163" y="179566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365763" y="2435745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WHERE?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384051" y="2892945"/>
            <a:ext cx="2523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Which node or edge would you place it?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 specific — before routing, after classification, etc.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3200403" y="1640217"/>
            <a:ext cx="2743200" cy="217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0"/>
          <p:cNvSpPr/>
          <p:nvPr/>
        </p:nvSpPr>
        <p:spPr>
          <a:xfrm>
            <a:off x="3200403" y="1640217"/>
            <a:ext cx="2743200" cy="639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0"/>
          <p:cNvSpPr/>
          <p:nvPr/>
        </p:nvSpPr>
        <p:spPr>
          <a:xfrm>
            <a:off x="4206243" y="1795665"/>
            <a:ext cx="548700" cy="548700"/>
          </a:xfrm>
          <a:prstGeom prst="ellipse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0"/>
          <p:cNvSpPr/>
          <p:nvPr/>
        </p:nvSpPr>
        <p:spPr>
          <a:xfrm>
            <a:off x="4206243" y="179566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3291843" y="2435745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WHEN?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3310131" y="2892945"/>
            <a:ext cx="2523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condition triggers it?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Always? Only Critical? Only when confidence is low? Why?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6126483" y="1640217"/>
            <a:ext cx="2743200" cy="217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0"/>
          <p:cNvSpPr/>
          <p:nvPr/>
        </p:nvSpPr>
        <p:spPr>
          <a:xfrm>
            <a:off x="6126483" y="1640217"/>
            <a:ext cx="2743200" cy="639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0"/>
          <p:cNvSpPr/>
          <p:nvPr/>
        </p:nvSpPr>
        <p:spPr>
          <a:xfrm>
            <a:off x="7132323" y="1795665"/>
            <a:ext cx="548700" cy="5487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0"/>
          <p:cNvSpPr/>
          <p:nvPr/>
        </p:nvSpPr>
        <p:spPr>
          <a:xfrm>
            <a:off x="7132323" y="179566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6217923" y="2435745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WHAT?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6236211" y="2892945"/>
            <a:ext cx="2523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does the human see when reviewing?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information do they need to make the decision?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274322" y="3898785"/>
            <a:ext cx="8412600" cy="80460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0"/>
          <p:cNvSpPr/>
          <p:nvPr/>
        </p:nvSpPr>
        <p:spPr>
          <a:xfrm>
            <a:off x="411483" y="3944505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Discussion — Share Your Designs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411482" y="4237113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Which decisions did you let the AI handle alone?  ·  Where did you add human gates?  ·  What tradeoffs did you make between speed and safety?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4297683" y="3944505"/>
            <a:ext cx="425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50"/>
              <a:buFont typeface="Calibri"/>
              <a:buNone/>
            </a:pPr>
            <a:r>
              <a:rPr b="1" i="1" lang="en" sz="12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Remember: Risk = Probability of error × Cost of error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Food for Thought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No right or wrong answers — open discussion prompts.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365760" y="1298448"/>
            <a:ext cx="4023360" cy="1060704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1"/>
          <p:cNvSpPr/>
          <p:nvPr/>
        </p:nvSpPr>
        <p:spPr>
          <a:xfrm>
            <a:off x="365760" y="1298448"/>
            <a:ext cx="4023360" cy="640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457200" y="1408176"/>
            <a:ext cx="566928" cy="2560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1"/>
          <p:cNvSpPr/>
          <p:nvPr/>
        </p:nvSpPr>
        <p:spPr>
          <a:xfrm>
            <a:off x="457200" y="140817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FT-1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457200" y="171907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 3-minute validator delay on a gas leak call slowed the response. When does the safety benefit of human review get outweighed by the delay it introduces?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365760" y="2505456"/>
            <a:ext cx="4023360" cy="1060704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1"/>
          <p:cNvSpPr/>
          <p:nvPr/>
        </p:nvSpPr>
        <p:spPr>
          <a:xfrm>
            <a:off x="365760" y="2505456"/>
            <a:ext cx="402336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457200" y="2615184"/>
            <a:ext cx="566928" cy="25603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>
            <a:off x="457200" y="2615184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FT-2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457200" y="2926080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trainer assumes human corrections are right. But dispatchers make mistakes too. What happens when you train your AI on incorrect human corrections?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365760" y="3712464"/>
            <a:ext cx="4023360" cy="1060704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365760" y="3712464"/>
            <a:ext cx="4023360" cy="6400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457200" y="3822192"/>
            <a:ext cx="566928" cy="25603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1"/>
          <p:cNvSpPr/>
          <p:nvPr/>
        </p:nvSpPr>
        <p:spPr>
          <a:xfrm>
            <a:off x="457200" y="3822192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FT-3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457200" y="4133088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Auto-routing rises from 85% to 95% over 6 months. Should you ever reach 100% automation? What would have to be true to remove humans entirely from a life-safety pipeline?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4645152" y="1298448"/>
            <a:ext cx="4206240" cy="1060704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1"/>
          <p:cNvSpPr/>
          <p:nvPr/>
        </p:nvSpPr>
        <p:spPr>
          <a:xfrm>
            <a:off x="4645152" y="1298448"/>
            <a:ext cx="4206240" cy="6400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4736592" y="1408176"/>
            <a:ext cx="566928" cy="2560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1"/>
          <p:cNvSpPr/>
          <p:nvPr/>
        </p:nvSpPr>
        <p:spPr>
          <a:xfrm>
            <a:off x="4736592" y="1408176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FT-4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4736592" y="1719072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Dispatchers currently answer phones manually. How do you design the validator UI so reviewing AI suggestions helps them rather than slowing them down?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4645152" y="2505456"/>
            <a:ext cx="4206240" cy="1060704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/>
          <p:nvPr/>
        </p:nvSpPr>
        <p:spPr>
          <a:xfrm>
            <a:off x="4645152" y="2505456"/>
            <a:ext cx="4206240" cy="64008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4736592" y="2615184"/>
            <a:ext cx="566928" cy="256032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1"/>
          <p:cNvSpPr/>
          <p:nvPr/>
        </p:nvSpPr>
        <p:spPr>
          <a:xfrm>
            <a:off x="4736592" y="2615184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FT-5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4736592" y="292608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50"/>
              <a:buFont typeface="Calibri"/>
              <a:buNone/>
            </a:pPr>
            <a:r>
              <a:rPr b="0" i="0" lang="en" sz="11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LLM-as-Judge can replace some human review — faster and cheaper. But is it really "human-in-the-loop," or just "model-in-the-loop"?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~3–4 hours total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2"/>
          <p:cNvSpPr/>
          <p:nvPr/>
        </p:nvSpPr>
        <p:spPr>
          <a:xfrm>
            <a:off x="365760" y="1298448"/>
            <a:ext cx="841248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365760" y="1298448"/>
            <a:ext cx="64008" cy="16276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2"/>
          <p:cNvSpPr/>
          <p:nvPr/>
        </p:nvSpPr>
        <p:spPr>
          <a:xfrm>
            <a:off x="530352" y="1389888"/>
            <a:ext cx="841248" cy="32918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2"/>
          <p:cNvSpPr/>
          <p:nvPr/>
        </p:nvSpPr>
        <p:spPr>
          <a:xfrm>
            <a:off x="530352" y="1389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2"/>
          <p:cNvSpPr/>
          <p:nvPr/>
        </p:nvSpPr>
        <p:spPr>
          <a:xfrm>
            <a:off x="1463040" y="1408176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HITL to Your Pipeline  ·  ~2–2.5 hrs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530352" y="1828800"/>
            <a:ext cx="81381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Validator gate — use interrupt() to pause when severity is Critical or confidence &lt; 0.7. Human sees: classification, confidence, reasoning, retrieved codes.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Override mechanism — after routing, allow reclassification with update_state().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Trainer log — every human correction appended with original prediction + correction + timestamp.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You'll need: InMemorySaver checkpointer + thread configs.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2"/>
          <p:cNvSpPr/>
          <p:nvPr/>
        </p:nvSpPr>
        <p:spPr>
          <a:xfrm>
            <a:off x="365760" y="3127248"/>
            <a:ext cx="8412480" cy="16276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2"/>
          <p:cNvSpPr/>
          <p:nvPr/>
        </p:nvSpPr>
        <p:spPr>
          <a:xfrm>
            <a:off x="365760" y="3127248"/>
            <a:ext cx="64008" cy="162763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2"/>
          <p:cNvSpPr/>
          <p:nvPr/>
        </p:nvSpPr>
        <p:spPr>
          <a:xfrm>
            <a:off x="530352" y="3218688"/>
            <a:ext cx="841248" cy="32918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2"/>
          <p:cNvSpPr/>
          <p:nvPr/>
        </p:nvSpPr>
        <p:spPr>
          <a:xfrm>
            <a:off x="530352" y="32186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2"/>
          <p:cNvSpPr/>
          <p:nvPr/>
        </p:nvSpPr>
        <p:spPr>
          <a:xfrm>
            <a:off x="1463040" y="3236976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 Document (half-page)  ·  ~1 hr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2"/>
          <p:cNvSpPr/>
          <p:nvPr/>
        </p:nvSpPr>
        <p:spPr>
          <a:xfrm>
            <a:off x="530352" y="3657600"/>
            <a:ext cx="81381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Where did you put each HITL type and why?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condition triggers the validator? Why that threshold?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information does the human see when reviewing? What's missing?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If CBRE processes 10,000 calls/day — how does your design scale? What breaks first?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Bring to Week 5: notebook with HITL checkpoints · design doc · one example where the validator changed the 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3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Reading List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3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Six resources — ranked by how much they'll change how you think.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3"/>
          <p:cNvSpPr/>
          <p:nvPr/>
        </p:nvSpPr>
        <p:spPr>
          <a:xfrm>
            <a:off x="365760" y="1298448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3"/>
          <p:cNvSpPr/>
          <p:nvPr/>
        </p:nvSpPr>
        <p:spPr>
          <a:xfrm>
            <a:off x="365760" y="1298448"/>
            <a:ext cx="64008" cy="1115568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3"/>
          <p:cNvSpPr/>
          <p:nvPr/>
        </p:nvSpPr>
        <p:spPr>
          <a:xfrm>
            <a:off x="530352" y="1389888"/>
            <a:ext cx="960120" cy="237744"/>
          </a:xfrm>
          <a:prstGeom prst="rect">
            <a:avLst/>
          </a:prstGeom>
          <a:solidFill>
            <a:srgbClr val="818CF8">
              <a:alpha val="85098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3"/>
          <p:cNvSpPr/>
          <p:nvPr/>
        </p:nvSpPr>
        <p:spPr>
          <a:xfrm>
            <a:off x="530352" y="13898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Must-try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3"/>
          <p:cNvSpPr/>
          <p:nvPr/>
        </p:nvSpPr>
        <p:spPr>
          <a:xfrm>
            <a:off x="530352" y="1682496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Microsoft Magentic-UI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3"/>
          <p:cNvSpPr/>
          <p:nvPr/>
        </p:nvSpPr>
        <p:spPr>
          <a:xfrm>
            <a:off x="530352" y="1993392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Real-world HITL agent: co-planning, action guards, co-tasking, plan learning. MIT licensed. Read the code or try it locally.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3"/>
          <p:cNvSpPr/>
          <p:nvPr/>
        </p:nvSpPr>
        <p:spPr>
          <a:xfrm>
            <a:off x="4800600" y="1298448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3"/>
          <p:cNvSpPr/>
          <p:nvPr/>
        </p:nvSpPr>
        <p:spPr>
          <a:xfrm>
            <a:off x="4800600" y="1298448"/>
            <a:ext cx="64008" cy="1115568"/>
          </a:xfrm>
          <a:prstGeom prst="rect">
            <a:avLst/>
          </a:prstGeom>
          <a:solidFill>
            <a:srgbClr val="FB7185"/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3"/>
          <p:cNvSpPr/>
          <p:nvPr/>
        </p:nvSpPr>
        <p:spPr>
          <a:xfrm>
            <a:off x="4965192" y="1389888"/>
            <a:ext cx="960120" cy="237744"/>
          </a:xfrm>
          <a:prstGeom prst="rect">
            <a:avLst/>
          </a:prstGeom>
          <a:solidFill>
            <a:srgbClr val="FB7185">
              <a:alpha val="85098"/>
            </a:srgbClr>
          </a:solidFill>
          <a:ln cap="flat" cmpd="sng" w="12700">
            <a:solidFill>
              <a:srgbClr val="FB71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3"/>
          <p:cNvSpPr/>
          <p:nvPr/>
        </p:nvSpPr>
        <p:spPr>
          <a:xfrm>
            <a:off x="4965192" y="13898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3"/>
          <p:cNvSpPr/>
          <p:nvPr/>
        </p:nvSpPr>
        <p:spPr>
          <a:xfrm>
            <a:off x="4965192" y="1682496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Magentic-UI Blog Post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"/>
          <p:cNvSpPr/>
          <p:nvPr/>
        </p:nvSpPr>
        <p:spPr>
          <a:xfrm>
            <a:off x="4965192" y="1993392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'why' behind Magentic-UI — how lightweight human feedback improved task completion by 71%.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3"/>
          <p:cNvSpPr/>
          <p:nvPr/>
        </p:nvSpPr>
        <p:spPr>
          <a:xfrm>
            <a:off x="365760" y="2560320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3"/>
          <p:cNvSpPr/>
          <p:nvPr/>
        </p:nvSpPr>
        <p:spPr>
          <a:xfrm>
            <a:off x="365760" y="2560320"/>
            <a:ext cx="64008" cy="1115568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3"/>
          <p:cNvSpPr/>
          <p:nvPr/>
        </p:nvSpPr>
        <p:spPr>
          <a:xfrm>
            <a:off x="530352" y="2651760"/>
            <a:ext cx="960120" cy="237744"/>
          </a:xfrm>
          <a:prstGeom prst="rect">
            <a:avLst/>
          </a:prstGeom>
          <a:solidFill>
            <a:srgbClr val="14B8A6">
              <a:alpha val="85098"/>
            </a:srgbClr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3"/>
          <p:cNvSpPr/>
          <p:nvPr/>
        </p:nvSpPr>
        <p:spPr>
          <a:xfrm>
            <a:off x="530352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ref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3"/>
          <p:cNvSpPr/>
          <p:nvPr/>
        </p:nvSpPr>
        <p:spPr>
          <a:xfrm>
            <a:off x="530352" y="2944368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LangGraph Interrupts &amp; HITL Guide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3"/>
          <p:cNvSpPr/>
          <p:nvPr/>
        </p:nvSpPr>
        <p:spPr>
          <a:xfrm>
            <a:off x="530352" y="3255264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Official guide to interrupt(), interrupt_before, update_state. Your primary reference for the assignment.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3"/>
          <p:cNvSpPr/>
          <p:nvPr/>
        </p:nvSpPr>
        <p:spPr>
          <a:xfrm>
            <a:off x="4800600" y="2560320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33"/>
          <p:cNvSpPr/>
          <p:nvPr/>
        </p:nvSpPr>
        <p:spPr>
          <a:xfrm>
            <a:off x="4800600" y="2560320"/>
            <a:ext cx="64008" cy="11155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3"/>
          <p:cNvSpPr/>
          <p:nvPr/>
        </p:nvSpPr>
        <p:spPr>
          <a:xfrm>
            <a:off x="4965192" y="2651760"/>
            <a:ext cx="960120" cy="237744"/>
          </a:xfrm>
          <a:prstGeom prst="rect">
            <a:avLst/>
          </a:prstGeom>
          <a:solidFill>
            <a:srgbClr val="3B82F6">
              <a:alpha val="85098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3"/>
          <p:cNvSpPr/>
          <p:nvPr/>
        </p:nvSpPr>
        <p:spPr>
          <a:xfrm>
            <a:off x="4965192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3"/>
          <p:cNvSpPr/>
          <p:nvPr/>
        </p:nvSpPr>
        <p:spPr>
          <a:xfrm>
            <a:off x="4965192" y="2944368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Human-in-the-Loop Agent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4965192" y="3255264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Covers approval gates, escalation, graduated autonomy — the design patterns behind the 3 HITL types.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3"/>
          <p:cNvSpPr/>
          <p:nvPr/>
        </p:nvSpPr>
        <p:spPr>
          <a:xfrm>
            <a:off x="365760" y="3822192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3"/>
          <p:cNvSpPr/>
          <p:nvPr/>
        </p:nvSpPr>
        <p:spPr>
          <a:xfrm>
            <a:off x="365760" y="3822192"/>
            <a:ext cx="64008" cy="11155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3"/>
          <p:cNvSpPr/>
          <p:nvPr/>
        </p:nvSpPr>
        <p:spPr>
          <a:xfrm>
            <a:off x="530352" y="3913632"/>
            <a:ext cx="960120" cy="237744"/>
          </a:xfrm>
          <a:prstGeom prst="rect">
            <a:avLst/>
          </a:prstGeom>
          <a:solidFill>
            <a:srgbClr val="F59E0B">
              <a:alpha val="8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3"/>
          <p:cNvSpPr/>
          <p:nvPr/>
        </p:nvSpPr>
        <p:spPr>
          <a:xfrm>
            <a:off x="530352" y="391363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dive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3"/>
          <p:cNvSpPr/>
          <p:nvPr/>
        </p:nvSpPr>
        <p:spPr>
          <a:xfrm>
            <a:off x="530352" y="4206240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Complete Guide to HITL AI (2026)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530352" y="4517136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Comprehensive overview — training, validation, override, and when to use each. Conceptual and practical.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3"/>
          <p:cNvSpPr/>
          <p:nvPr/>
        </p:nvSpPr>
        <p:spPr>
          <a:xfrm>
            <a:off x="4800600" y="3822192"/>
            <a:ext cx="4069080" cy="1115568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3"/>
          <p:cNvSpPr/>
          <p:nvPr/>
        </p:nvSpPr>
        <p:spPr>
          <a:xfrm>
            <a:off x="4800600" y="3822192"/>
            <a:ext cx="64008" cy="111556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3"/>
          <p:cNvSpPr/>
          <p:nvPr/>
        </p:nvSpPr>
        <p:spPr>
          <a:xfrm>
            <a:off x="4965192" y="3913632"/>
            <a:ext cx="960120" cy="237744"/>
          </a:xfrm>
          <a:prstGeom prst="rect">
            <a:avLst/>
          </a:prstGeom>
          <a:solidFill>
            <a:srgbClr val="64748B">
              <a:alpha val="85098"/>
            </a:srgbClr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3"/>
          <p:cNvSpPr/>
          <p:nvPr/>
        </p:nvSpPr>
        <p:spPr>
          <a:xfrm>
            <a:off x="4965192" y="391363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3"/>
          <p:cNvSpPr/>
          <p:nvPr/>
        </p:nvSpPr>
        <p:spPr>
          <a:xfrm>
            <a:off x="4965192" y="4206240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LangGraph Documentation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965192" y="4517136"/>
            <a:ext cx="37856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Nodes, edges, state, checkpointers. Keep this open while building.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4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1A3A6B">
              <a:alpha val="60000"/>
            </a:srgbClr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1A3A6B">
              <a:alpha val="60000"/>
            </a:srgbClr>
          </a:solidFill>
          <a:ln cap="flat" cmpd="sng" w="12700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3200400" y="-457200"/>
            <a:ext cx="2286000" cy="2286000"/>
          </a:xfrm>
          <a:prstGeom prst="ellipse">
            <a:avLst/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4"/>
          <p:cNvSpPr/>
          <p:nvPr/>
        </p:nvSpPr>
        <p:spPr>
          <a:xfrm>
            <a:off x="2011680" y="1097280"/>
            <a:ext cx="5120640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4"/>
          <p:cNvSpPr/>
          <p:nvPr/>
        </p:nvSpPr>
        <p:spPr>
          <a:xfrm>
            <a:off x="2011680" y="1097280"/>
            <a:ext cx="5120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QUIZ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4"/>
          <p:cNvSpPr/>
          <p:nvPr/>
        </p:nvSpPr>
        <p:spPr>
          <a:xfrm>
            <a:off x="914400" y="219456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2800"/>
              <a:buFont typeface="Calibri"/>
              <a:buNone/>
            </a:pPr>
            <a:r>
              <a:rPr b="0" i="0" lang="en" sz="28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Check Your Understanding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4"/>
          <p:cNvSpPr/>
          <p:nvPr/>
        </p:nvSpPr>
        <p:spPr>
          <a:xfrm>
            <a:off x="3200400" y="2907792"/>
            <a:ext cx="274320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4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1" lang="en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See the quiz document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5"/>
          <p:cNvSpPr/>
          <p:nvPr/>
        </p:nvSpPr>
        <p:spPr>
          <a:xfrm>
            <a:off x="365760" y="960120"/>
            <a:ext cx="5074920" cy="457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35"/>
          <p:cNvSpPr/>
          <p:nvPr/>
        </p:nvSpPr>
        <p:spPr>
          <a:xfrm>
            <a:off x="365760" y="960120"/>
            <a:ext cx="54864" cy="4572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5"/>
          <p:cNvSpPr/>
          <p:nvPr/>
        </p:nvSpPr>
        <p:spPr>
          <a:xfrm>
            <a:off x="530352" y="101498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HITL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5"/>
          <p:cNvSpPr/>
          <p:nvPr/>
        </p:nvSpPr>
        <p:spPr>
          <a:xfrm>
            <a:off x="1874520" y="101498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Humans at the right moments — not everywhere, not nowhere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5"/>
          <p:cNvSpPr/>
          <p:nvPr/>
        </p:nvSpPr>
        <p:spPr>
          <a:xfrm>
            <a:off x="365760" y="1481328"/>
            <a:ext cx="5074920" cy="457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5"/>
          <p:cNvSpPr/>
          <p:nvPr/>
        </p:nvSpPr>
        <p:spPr>
          <a:xfrm>
            <a:off x="365760" y="1481328"/>
            <a:ext cx="54864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5"/>
          <p:cNvSpPr/>
          <p:nvPr/>
        </p:nvSpPr>
        <p:spPr>
          <a:xfrm>
            <a:off x="530352" y="153619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3 Types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5"/>
          <p:cNvSpPr/>
          <p:nvPr/>
        </p:nvSpPr>
        <p:spPr>
          <a:xfrm>
            <a:off x="1874520" y="153619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Trainer (async) · Validator (pre-action) · Override (post-action)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5"/>
          <p:cNvSpPr/>
          <p:nvPr/>
        </p:nvSpPr>
        <p:spPr>
          <a:xfrm>
            <a:off x="365760" y="2002536"/>
            <a:ext cx="5074920" cy="457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5"/>
          <p:cNvSpPr/>
          <p:nvPr/>
        </p:nvSpPr>
        <p:spPr>
          <a:xfrm>
            <a:off x="365760" y="2002536"/>
            <a:ext cx="54864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5"/>
          <p:cNvSpPr/>
          <p:nvPr/>
        </p:nvSpPr>
        <p:spPr>
          <a:xfrm>
            <a:off x="530352" y="205740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Override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5"/>
          <p:cNvSpPr/>
          <p:nvPr/>
        </p:nvSpPr>
        <p:spPr>
          <a:xfrm>
            <a:off x="1874520" y="205740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Fixes today's mistake. Validator prevents tomorrow's. Trainer eliminates next month's.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5"/>
          <p:cNvSpPr/>
          <p:nvPr/>
        </p:nvSpPr>
        <p:spPr>
          <a:xfrm>
            <a:off x="365760" y="2523744"/>
            <a:ext cx="5074920" cy="457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5"/>
          <p:cNvSpPr/>
          <p:nvPr/>
        </p:nvSpPr>
        <p:spPr>
          <a:xfrm>
            <a:off x="365760" y="2523744"/>
            <a:ext cx="54864" cy="4572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5"/>
          <p:cNvSpPr/>
          <p:nvPr/>
        </p:nvSpPr>
        <p:spPr>
          <a:xfrm>
            <a:off x="530352" y="2578608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Risk Formula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5"/>
          <p:cNvSpPr/>
          <p:nvPr/>
        </p:nvSpPr>
        <p:spPr>
          <a:xfrm>
            <a:off x="1874520" y="257860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Risk = P(error) × Cost(error) — not just confidence threshold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5"/>
          <p:cNvSpPr/>
          <p:nvPr/>
        </p:nvSpPr>
        <p:spPr>
          <a:xfrm>
            <a:off x="365760" y="3044952"/>
            <a:ext cx="5074920" cy="457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5"/>
          <p:cNvSpPr/>
          <p:nvPr/>
        </p:nvSpPr>
        <p:spPr>
          <a:xfrm>
            <a:off x="365760" y="3044952"/>
            <a:ext cx="54864" cy="457200"/>
          </a:xfrm>
          <a:prstGeom prst="rect">
            <a:avLst/>
          </a:prstGeom>
          <a:solidFill>
            <a:srgbClr val="818CF8"/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35"/>
          <p:cNvSpPr/>
          <p:nvPr/>
        </p:nvSpPr>
        <p:spPr>
          <a:xfrm>
            <a:off x="530352" y="309981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Real Examples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5"/>
          <p:cNvSpPr/>
          <p:nvPr/>
        </p:nvSpPr>
        <p:spPr>
          <a:xfrm>
            <a:off x="1874520" y="309981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Magentic-UI, Claude Code Plan Mode, Cursor accept/reject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5"/>
          <p:cNvSpPr/>
          <p:nvPr/>
        </p:nvSpPr>
        <p:spPr>
          <a:xfrm>
            <a:off x="365760" y="3566160"/>
            <a:ext cx="5074920" cy="457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5"/>
          <p:cNvSpPr/>
          <p:nvPr/>
        </p:nvSpPr>
        <p:spPr>
          <a:xfrm>
            <a:off x="365760" y="3566160"/>
            <a:ext cx="54864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5"/>
          <p:cNvSpPr/>
          <p:nvPr/>
        </p:nvSpPr>
        <p:spPr>
          <a:xfrm>
            <a:off x="530352" y="362102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Full 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5"/>
          <p:cNvSpPr/>
          <p:nvPr/>
        </p:nvSpPr>
        <p:spPr>
          <a:xfrm>
            <a:off x="1874520" y="362102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Extract → Retrieve → Classify → {HITL gate} → Route →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5"/>
          <p:cNvSpPr/>
          <p:nvPr/>
        </p:nvSpPr>
        <p:spPr>
          <a:xfrm>
            <a:off x="365760" y="4087368"/>
            <a:ext cx="5074920" cy="45720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5"/>
          <p:cNvSpPr/>
          <p:nvPr/>
        </p:nvSpPr>
        <p:spPr>
          <a:xfrm>
            <a:off x="365760" y="4087368"/>
            <a:ext cx="54864" cy="457200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5"/>
          <p:cNvSpPr/>
          <p:nvPr/>
        </p:nvSpPr>
        <p:spPr>
          <a:xfrm>
            <a:off x="530352" y="4142232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i="0" lang="en" sz="11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5"/>
          <p:cNvSpPr/>
          <p:nvPr/>
        </p:nvSpPr>
        <p:spPr>
          <a:xfrm>
            <a:off x="1874520" y="414223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interrupt() · update_state() · InMemorySaver · Command(resume=...)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5"/>
          <p:cNvSpPr/>
          <p:nvPr/>
        </p:nvSpPr>
        <p:spPr>
          <a:xfrm>
            <a:off x="5669280" y="960120"/>
            <a:ext cx="3108960" cy="3977640"/>
          </a:xfrm>
          <a:prstGeom prst="rect">
            <a:avLst/>
          </a:prstGeom>
          <a:solidFill>
            <a:srgbClr val="1A3A6B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5"/>
          <p:cNvSpPr/>
          <p:nvPr/>
        </p:nvSpPr>
        <p:spPr>
          <a:xfrm>
            <a:off x="5669280" y="960120"/>
            <a:ext cx="3108960" cy="73152"/>
          </a:xfrm>
          <a:prstGeom prst="rect">
            <a:avLst/>
          </a:prstGeom>
          <a:solidFill>
            <a:srgbClr val="14B8A6"/>
          </a:solidFill>
          <a:ln cap="flat" cmpd="sng" w="12700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5"/>
          <p:cNvSpPr/>
          <p:nvPr/>
        </p:nvSpPr>
        <p:spPr>
          <a:xfrm>
            <a:off x="5669280" y="10972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NEXT WEEK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5"/>
          <p:cNvSpPr/>
          <p:nvPr/>
        </p:nvSpPr>
        <p:spPr>
          <a:xfrm>
            <a:off x="5760720" y="1517904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5: Industry Realities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Building AI Products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5"/>
          <p:cNvSpPr/>
          <p:nvPr/>
        </p:nvSpPr>
        <p:spPr>
          <a:xfrm>
            <a:off x="5760720" y="2231136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00"/>
              <a:buFont typeface="Calibri"/>
              <a:buNone/>
            </a:pPr>
            <a:r>
              <a:rPr b="0" i="1" lang="en" sz="1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[Guest Lecturer]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/>
          <p:nvPr/>
        </p:nvSpPr>
        <p:spPr>
          <a:xfrm>
            <a:off x="5760720" y="2606040"/>
            <a:ext cx="28346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Char char="•"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What changes from demo to production?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Char char="•"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Cost, latency, reliability at 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F0FE"/>
              </a:buClr>
              <a:buSzPts val="1250"/>
              <a:buFont typeface="Calibri"/>
              <a:buChar char="•"/>
            </a:pPr>
            <a:r>
              <a:rPr b="0" i="0" lang="en" sz="1250" u="none" cap="none" strike="noStrike">
                <a:solidFill>
                  <a:srgbClr val="E8F0FE"/>
                </a:solidFill>
                <a:latin typeface="Calibri"/>
                <a:ea typeface="Calibri"/>
                <a:cs typeface="Calibri"/>
                <a:sym typeface="Calibri"/>
              </a:rPr>
              <a:t>The things no tutorial teaches you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5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5"/>
          <p:cNvSpPr/>
          <p:nvPr/>
        </p:nvSpPr>
        <p:spPr>
          <a:xfrm>
            <a:off x="502920" y="47365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Demo: hitl_demo.ipynb  →  Extract → Retrieve → Classify → Validator Gate → Override → Trainer 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