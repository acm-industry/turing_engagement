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5"/>
    <p:sldMasterId id="214748370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Instrument Sans SemiBold"/>
      <p:regular r:id="rId17"/>
      <p:bold r:id="rId18"/>
      <p:italic r:id="rId19"/>
      <p:boldItalic r:id="rId20"/>
    </p:embeddedFont>
    <p:embeddedFont>
      <p:font typeface="Instrument Sans Medium"/>
      <p:regular r:id="rId21"/>
      <p:bold r:id="rId22"/>
      <p:italic r:id="rId23"/>
      <p:boldItalic r:id="rId24"/>
    </p:embeddedFont>
    <p:embeddedFont>
      <p:font typeface="Instrument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73A650-91E6-4A4E-88D7-C0593056A6AF}">
  <a:tblStyle styleId="{8573A650-91E6-4A4E-88D7-C0593056A6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11CD2EE-193C-40F4-8D47-7406CD62DFE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font" Target="fonts/InstrumentSansSemiBold-boldItalic.fntdata"/><Relationship Id="rId22" Type="http://schemas.openxmlformats.org/officeDocument/2006/relationships/font" Target="fonts/InstrumentSansMedium-bold.fntdata"/><Relationship Id="rId21" Type="http://schemas.openxmlformats.org/officeDocument/2006/relationships/font" Target="fonts/InstrumentSansMedium-regular.fntdata"/><Relationship Id="rId24" Type="http://schemas.openxmlformats.org/officeDocument/2006/relationships/font" Target="fonts/InstrumentSansMedium-boldItalic.fntdata"/><Relationship Id="rId23" Type="http://schemas.openxmlformats.org/officeDocument/2006/relationships/font" Target="fonts/InstrumentSansMedium-italic.fntdata"/><Relationship Id="rId26" Type="http://schemas.openxmlformats.org/officeDocument/2006/relationships/font" Target="fonts/InstrumentSans-bold.fntdata"/><Relationship Id="rId25" Type="http://schemas.openxmlformats.org/officeDocument/2006/relationships/font" Target="fonts/InstrumentSans-regular.fntdata"/><Relationship Id="rId28" Type="http://schemas.openxmlformats.org/officeDocument/2006/relationships/font" Target="fonts/InstrumentSans-boldItalic.fntdata"/><Relationship Id="rId27" Type="http://schemas.openxmlformats.org/officeDocument/2006/relationships/font" Target="fonts/InstrumentSans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InstrumentSansSemiBold-regular.fntdata"/><Relationship Id="rId16" Type="http://schemas.openxmlformats.org/officeDocument/2006/relationships/slide" Target="slides/slide9.xml"/><Relationship Id="rId19" Type="http://schemas.openxmlformats.org/officeDocument/2006/relationships/font" Target="fonts/InstrumentSansSemiBold-italic.fntdata"/><Relationship Id="rId18" Type="http://schemas.openxmlformats.org/officeDocument/2006/relationships/font" Target="fonts/Instrument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bbbe10c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bbbe10c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bbbe10c34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cbbbe10c3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cbbbe10c34_0_1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cbbbe10c34_0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43ca0fcb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d43ca0fcb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43ca0fcb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d43ca0fcb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d43ca0fcb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d43ca0fcb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43ca0fcb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d43ca0fcb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43ca0fcb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43ca0fcb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cbbbe10c34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cbbbe10c34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57" name="Google Shape;57;p14"/>
          <p:cNvPicPr preferRelativeResize="0"/>
          <p:nvPr/>
        </p:nvPicPr>
        <p:blipFill rotWithShape="1">
          <a:blip r:embed="rId2">
            <a:alphaModFix/>
          </a:blip>
          <a:srcRect b="23378" l="26958" r="35833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58" name="Google Shape;58;p14"/>
          <p:cNvPicPr preferRelativeResize="0"/>
          <p:nvPr/>
        </p:nvPicPr>
        <p:blipFill rotWithShape="1">
          <a:blip r:embed="rId3">
            <a:alphaModFix/>
          </a:blip>
          <a:srcRect b="1225" l="28621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69" name="Google Shape;69;p15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70" name="Google Shape;70;p15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5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5" name="Google Shape;75;p16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79" name="Google Shape;79;p16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80" name="Google Shape;80;p16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6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7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9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0" name="Google Shape;130;p19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19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9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9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2" name="Google Shape;152;p20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3" name="Google Shape;153;p20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20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0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7" name="Google Shape;157;p20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8" name="Google Shape;158;p20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2" name="Google Shape;172;p2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22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186" name="Google Shape;186;p2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0" name="Google Shape;190;p24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4" name="Google Shape;194;p25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5" name="Google Shape;195;p2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25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5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7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208" name="Google Shape;208;p2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4" name="Google Shape;214;p28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215" name="Google Shape;215;p28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1" name="Google Shape;221;p28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2" name="Google Shape;222;p2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225" name="Google Shape;225;p2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2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0" name="Google Shape;230;p29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4" name="Google Shape;234;p29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7" name="Google Shape;237;p29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0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47" name="Google Shape;247;p30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9" name="Google Shape;249;p30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0" name="Google Shape;250;p30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3" name="Google Shape;253;p30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8" name="Google Shape;258;p3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9" name="Google Shape;259;p3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1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1" name="Google Shape;261;p31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2" name="Google Shape;262;p31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4" name="Google Shape;264;p31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5" name="Google Shape;265;p31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7" name="Google Shape;267;p31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8" name="Google Shape;268;p31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269" name="Google Shape;269;p31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3" name="Google Shape;273;p3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4" name="Google Shape;274;p3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6" name="Google Shape;276;p32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7" name="Google Shape;277;p32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8" name="Google Shape;278;p32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0" name="Google Shape;280;p32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2" name="Google Shape;282;p32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3" name="Google Shape;283;p32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5" name="Google Shape;285;p32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0" name="Google Shape;290;p32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1" name="Google Shape;291;p32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3" name="Google Shape;293;p32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4" name="Google Shape;294;p32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7" name="Google Shape;297;p33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98" name="Google Shape;298;p33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9" name="Google Shape;299;p33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0" name="Google Shape;300;p33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01" name="Google Shape;301;p33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2" name="Google Shape;302;p3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3" name="Google Shape;303;p33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33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5" name="Google Shape;305;p33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6" name="Google Shape;306;p33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3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10" name="Google Shape;310;p33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1" name="Google Shape;311;p33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4" name="Google Shape;314;p34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5" name="Google Shape;315;p34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6" name="Google Shape;316;p3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7" name="Google Shape;317;p34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8" name="Google Shape;318;p34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9" name="Google Shape;319;p34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0" name="Google Shape;320;p3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1" name="Google Shape;321;p34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3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6" name="Google Shape;326;p35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7" name="Google Shape;327;p35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28" name="Google Shape;328;p3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3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3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9" name="Google Shape;339;p37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0" name="Google Shape;340;p37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1" name="Google Shape;341;p37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43" name="Google Shape;343;p37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4" name="Google Shape;344;p37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5" name="Google Shape;345;p37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6" name="Google Shape;346;p37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47" name="Google Shape;347;p37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8" name="Google Shape;348;p37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51" name="Google Shape;351;p38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38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3" name="Google Shape;353;p38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354" name="Google Shape;354;p38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55" name="Google Shape;355;p38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6" name="Google Shape;356;p38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7" name="Google Shape;357;p38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8" name="Google Shape;358;p38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2" name="Google Shape;362;p39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3" name="Google Shape;363;p39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4" name="Google Shape;364;p39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65" name="Google Shape;365;p39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6" name="Google Shape;366;p39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7" name="Google Shape;367;p39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39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9" name="Google Shape;369;p3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2" name="Google Shape;372;p4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40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4" name="Google Shape;374;p40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6" name="Google Shape;376;p40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78" name="Google Shape;378;p40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0" name="Google Shape;380;p40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1" name="Google Shape;381;p40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41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5" name="Google Shape;385;p4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6" name="Google Shape;386;p41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7" name="Google Shape;387;p41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41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89" name="Google Shape;389;p41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0" name="Google Shape;390;p41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41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2" name="Google Shape;392;p41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3" name="Google Shape;393;p41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41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5" name="Google Shape;395;p41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6" name="Google Shape;396;p41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41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8" name="Google Shape;398;p41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9" name="Google Shape;399;p4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02" name="Google Shape;402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16" name="Google Shape;416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21" name="Google Shape;421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2" name="Google Shape;422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27" name="Google Shape;427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3" name="Google Shape;443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0" name="Google Shape;450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1" name="Google Shape;451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7" name="Google Shape;457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8" name="Google Shape;458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0" name="Google Shape;460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1" name="Google Shape;461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4" name="Google Shape;464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7" name="Google Shape;467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3" name="Google Shape;47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4" name="Google Shape;474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5" name="Google Shape;475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1" name="Google Shape;481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3" name="Google Shape;48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4" name="Google Shape;484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5" name="Google Shape;485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6" name="Google Shape;486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7" name="Google Shape;497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xiv.org/pdf/2507.2235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"/>
          <p:cNvSpPr/>
          <p:nvPr/>
        </p:nvSpPr>
        <p:spPr>
          <a:xfrm>
            <a:off x="284700" y="4434600"/>
            <a:ext cx="18480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Turing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5" name="Google Shape;505;p63"/>
          <p:cNvSpPr/>
          <p:nvPr/>
        </p:nvSpPr>
        <p:spPr>
          <a:xfrm>
            <a:off x="2132824" y="4434600"/>
            <a:ext cx="12936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February</a:t>
            </a: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27, 2026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6" name="Google Shape;506;p63"/>
          <p:cNvSpPr txBox="1"/>
          <p:nvPr>
            <p:ph type="title"/>
          </p:nvPr>
        </p:nvSpPr>
        <p:spPr>
          <a:xfrm>
            <a:off x="291800" y="465200"/>
            <a:ext cx="5928300" cy="8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Turing x UCSB x ACM – </a:t>
            </a:r>
            <a:r>
              <a:rPr lang="en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Product Development Mentorship Program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4"/>
          <p:cNvSpPr txBox="1"/>
          <p:nvPr/>
        </p:nvSpPr>
        <p:spPr>
          <a:xfrm>
            <a:off x="284700" y="315738"/>
            <a:ext cx="63999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Schedule Overview</a:t>
            </a:r>
            <a:endParaRPr sz="24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12" name="Google Shape;512;p6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3" name="Google Shape;513;p64"/>
          <p:cNvSpPr/>
          <p:nvPr/>
        </p:nvSpPr>
        <p:spPr>
          <a:xfrm>
            <a:off x="877175" y="877676"/>
            <a:ext cx="7363200" cy="40899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aphicFrame>
        <p:nvGraphicFramePr>
          <p:cNvPr id="514" name="Google Shape;514;p64"/>
          <p:cNvGraphicFramePr/>
          <p:nvPr/>
        </p:nvGraphicFramePr>
        <p:xfrm>
          <a:off x="1547163" y="114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{8573A650-91E6-4A4E-88D7-C0593056A6AF}</a:tableStyleId>
              </a:tblPr>
              <a:tblGrid>
                <a:gridCol w="1168475"/>
                <a:gridCol w="4866950"/>
              </a:tblGrid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1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Course Kickoff + Problem Scoping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2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Agentic AI &amp; Fundamentals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3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LangGraph &amp; RAG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4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HITL Systems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5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[Guest Lecturer] Pick one of the 2: 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Topic 1: AI and prototyping: the myth and the reality 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D1C1D"/>
                          </a:solidFill>
                          <a:highlight>
                            <a:srgbClr val="FFFFFF"/>
                          </a:highlight>
                        </a:rPr>
                        <a:t>Topic 2: Why Most AI POCs Fail — And What Actually Gets Funded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6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Architecture Design &amp; Eng Design Doc 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7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[Student Presentation]</a:t>
                      </a: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 Architecture Presentations + Critique 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8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Coding Copilots in Practice &amp; Development Cycle Integration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9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End-to-end Implementation &amp; Evaluation 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10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[Student Presentation]</a:t>
                      </a: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 Demo Week (Final Prototype + Documentation)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5" name="Google Shape;515;p64"/>
          <p:cNvSpPr txBox="1"/>
          <p:nvPr/>
        </p:nvSpPr>
        <p:spPr>
          <a:xfrm>
            <a:off x="1441568" y="865406"/>
            <a:ext cx="1435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Subject to change</a:t>
            </a:r>
            <a:endParaRPr i="1"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6" name="Google Shape;516;p64"/>
          <p:cNvSpPr/>
          <p:nvPr/>
        </p:nvSpPr>
        <p:spPr>
          <a:xfrm>
            <a:off x="1077300" y="2172725"/>
            <a:ext cx="364200" cy="15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7" name="Google Shape;517;p64"/>
          <p:cNvSpPr/>
          <p:nvPr/>
        </p:nvSpPr>
        <p:spPr>
          <a:xfrm>
            <a:off x="1077300" y="2663100"/>
            <a:ext cx="364200" cy="15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5"/>
          <p:cNvSpPr txBox="1"/>
          <p:nvPr>
            <p:ph idx="3" type="body"/>
          </p:nvPr>
        </p:nvSpPr>
        <p:spPr>
          <a:xfrm>
            <a:off x="323700" y="1251900"/>
            <a:ext cx="8496600" cy="1261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HIT</a:t>
            </a: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L.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it &amp; why do we need it?</a:t>
            </a:r>
            <a:endParaRPr/>
          </a:p>
        </p:txBody>
      </p:sp>
      <p:sp>
        <p:nvSpPr>
          <p:cNvPr id="523" name="Google Shape;523;p6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6"/>
          <p:cNvSpPr txBox="1"/>
          <p:nvPr>
            <p:ph idx="3" type="body"/>
          </p:nvPr>
        </p:nvSpPr>
        <p:spPr>
          <a:xfrm>
            <a:off x="323700" y="736525"/>
            <a:ext cx="8496600" cy="195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HITL.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What’s the biggest problem? </a:t>
            </a:r>
            <a:endParaRPr/>
          </a:p>
        </p:txBody>
      </p:sp>
      <p:sp>
        <p:nvSpPr>
          <p:cNvPr id="529" name="Google Shape;529;p6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7"/>
          <p:cNvSpPr txBox="1"/>
          <p:nvPr>
            <p:ph idx="3" type="body"/>
          </p:nvPr>
        </p:nvSpPr>
        <p:spPr>
          <a:xfrm>
            <a:off x="323700" y="1498950"/>
            <a:ext cx="8496600" cy="2028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Top agentic architecture / HITL problems</a:t>
            </a:r>
            <a:r>
              <a:rPr b="1" lang="en" sz="1700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1" sz="1700">
              <a:solidFill>
                <a:srgbClr val="000000"/>
              </a:solidFill>
              <a:highlight>
                <a:schemeClr val="accen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highlight>
                <a:schemeClr val="accen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⇒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“AI is wrong all the time, so I stopped using it”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information surfacing strategy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early correction loop. Users can’t easily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steer or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 direction.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learning from mistakes. Same errors repeat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6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8"/>
          <p:cNvSpPr txBox="1"/>
          <p:nvPr>
            <p:ph idx="3" type="body"/>
          </p:nvPr>
        </p:nvSpPr>
        <p:spPr>
          <a:xfrm>
            <a:off x="323700" y="1924050"/>
            <a:ext cx="8496600" cy="141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More</a:t>
            </a:r>
            <a:r>
              <a:rPr b="1" lang="en" sz="1700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 problems in production-level HITL design. </a:t>
            </a:r>
            <a:endParaRPr b="1" sz="1700">
              <a:solidFill>
                <a:srgbClr val="000000"/>
              </a:solidFill>
              <a:highlight>
                <a:schemeClr val="accen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Poorly designed human review thresholds … “low confidence” != “high risk”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Probability of error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×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of that error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Humans are not ground truth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HITL often degrades over time (human behavioral + agent state drift)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rollout and change management plan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restructuring human roles and orgs along with HITL design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6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9"/>
          <p:cNvSpPr txBox="1"/>
          <p:nvPr>
            <p:ph idx="3" type="body"/>
          </p:nvPr>
        </p:nvSpPr>
        <p:spPr>
          <a:xfrm>
            <a:off x="323700" y="614700"/>
            <a:ext cx="8496600" cy="51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3 Types of HITL: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1181100" y="152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{B11CD2EE-193C-40F4-8D47-7406CD62DFE3}</a:tableStyleId>
              </a:tblPr>
              <a:tblGrid>
                <a:gridCol w="1270850"/>
                <a:gridCol w="2541675"/>
                <a:gridCol w="2708350"/>
              </a:tblGrid>
              <a:tr h="435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Human </a:t>
                      </a:r>
                      <a:r>
                        <a:rPr b="1" lang="en" sz="1100"/>
                        <a:t>Role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When it acts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What it affects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Trainer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After calls (offline)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Future call handling &amp; routing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Overrider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During call or workflow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Call trajectory &amp; real-time decisions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Validator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Before action is executed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Current ticket / work order outcome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/>
          <p:nvPr>
            <p:ph idx="3" type="body"/>
          </p:nvPr>
        </p:nvSpPr>
        <p:spPr>
          <a:xfrm>
            <a:off x="323700" y="1299200"/>
            <a:ext cx="8496600" cy="189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Real</a:t>
            </a:r>
            <a:r>
              <a:rPr b="1" lang="en" sz="1700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 HITL design examples in the wild. </a:t>
            </a:r>
            <a:endParaRPr b="1" sz="1700">
              <a:solidFill>
                <a:srgbClr val="000000"/>
              </a:solidFill>
              <a:highlight>
                <a:schemeClr val="accen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framework: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Magentic-UI by MSR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Claude Code: Plan mode &amp; the “AskMeQuestions” tool 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Cursor: Review/Accept/Reject experience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7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1"/>
          <p:cNvSpPr/>
          <p:nvPr/>
        </p:nvSpPr>
        <p:spPr>
          <a:xfrm>
            <a:off x="284700" y="3703425"/>
            <a:ext cx="4227300" cy="9651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0" name="Google Shape;560;p71"/>
          <p:cNvSpPr txBox="1"/>
          <p:nvPr>
            <p:ph type="title"/>
          </p:nvPr>
        </p:nvSpPr>
        <p:spPr>
          <a:xfrm>
            <a:off x="291800" y="465200"/>
            <a:ext cx="56664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61" name="Google Shape;561;p71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2"/>
                </a:highlight>
              </a:rPr>
              <a:t>Questions?</a:t>
            </a:r>
            <a:r>
              <a:rPr lang="en"/>
              <a:t>  Contact</a:t>
            </a:r>
            <a:endParaRPr/>
          </a:p>
        </p:txBody>
      </p:sp>
      <p:sp>
        <p:nvSpPr>
          <p:cNvPr id="562" name="Google Shape;562;p71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irenefanyiran@gmail.com</a:t>
            </a:r>
            <a:endParaRPr/>
          </a:p>
        </p:txBody>
      </p:sp>
      <p:pic>
        <p:nvPicPr>
          <p:cNvPr id="563" name="Google Shape;563;p71" title="Gemini_Generated_Image_j0azqqj0azqqj0az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225" y="3900375"/>
            <a:ext cx="571200" cy="57120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