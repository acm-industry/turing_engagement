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5"/>
    <p:sldMasterId id="214748370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nstrument Sans SemiBold"/>
      <p:regular r:id="rId18"/>
      <p:bold r:id="rId19"/>
      <p:italic r:id="rId20"/>
      <p:boldItalic r:id="rId21"/>
    </p:embeddedFont>
    <p:embeddedFont>
      <p:font typeface="Instrument Sans Medium"/>
      <p:regular r:id="rId22"/>
      <p:bold r:id="rId23"/>
      <p:italic r:id="rId24"/>
      <p:boldItalic r:id="rId25"/>
    </p:embeddedFont>
    <p:embeddedFont>
      <p:font typeface="Instrument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3A3DDC-8EB5-4652-BFA2-981292C0BD82}">
  <a:tblStyle styleId="{B03A3DDC-8EB5-4652-BFA2-981292C0BD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InstrumentSansSemiBold-italic.fntdata"/><Relationship Id="rId22" Type="http://schemas.openxmlformats.org/officeDocument/2006/relationships/font" Target="fonts/InstrumentSansMedium-regular.fntdata"/><Relationship Id="rId21" Type="http://schemas.openxmlformats.org/officeDocument/2006/relationships/font" Target="fonts/InstrumentSansSemiBold-boldItalic.fntdata"/><Relationship Id="rId24" Type="http://schemas.openxmlformats.org/officeDocument/2006/relationships/font" Target="fonts/InstrumentSansMedium-italic.fntdata"/><Relationship Id="rId23" Type="http://schemas.openxmlformats.org/officeDocument/2006/relationships/font" Target="fonts/InstrumentSansMedium-bold.fntdata"/><Relationship Id="rId26" Type="http://schemas.openxmlformats.org/officeDocument/2006/relationships/font" Target="fonts/InstrumentSans-regular.fntdata"/><Relationship Id="rId25" Type="http://schemas.openxmlformats.org/officeDocument/2006/relationships/font" Target="fonts/InstrumentSansMedium-boldItalic.fntdata"/><Relationship Id="rId28" Type="http://schemas.openxmlformats.org/officeDocument/2006/relationships/font" Target="fonts/InstrumentSans-italic.fntdata"/><Relationship Id="rId27" Type="http://schemas.openxmlformats.org/officeDocument/2006/relationships/font" Target="fonts/InstrumentSans-bold.fntdata"/><Relationship Id="rId29" Type="http://schemas.openxmlformats.org/officeDocument/2006/relationships/font" Target="fonts/Instrument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InstrumentSansSemiBold-bold.fntdata"/><Relationship Id="rId18" Type="http://schemas.openxmlformats.org/officeDocument/2006/relationships/font" Target="fonts/Instrument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bbbe10c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bbbe10c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bbbe10c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bbbe10c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bbbe10c3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cbbbe10c3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bbbe10c34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cbbbe10c34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bbbe10c3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cbbbe10c3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bbbe10c3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cbbbe10c3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cbbbe10c34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cbbbe10c34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cbbbe10c3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cbbbe10c3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bbbe10c34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cbbbe10c34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cbbbe10c34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cbbbe10c34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57" name="Google Shape;57;p14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58" name="Google Shape;58;p14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69" name="Google Shape;69;p15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70" name="Google Shape;70;p15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5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" name="Google Shape;75;p16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80" name="Google Shape;80;p16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6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7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9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0" name="Google Shape;130;p19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9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9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9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2" name="Google Shape;152;p20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3" name="Google Shape;153;p20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0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7" name="Google Shape;157;p20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8" name="Google Shape;158;p20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2" name="Google Shape;172;p2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22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25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25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7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4" name="Google Shape;214;p28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215" name="Google Shape;215;p28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1" name="Google Shape;221;p28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2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4" name="Google Shape;234;p29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47" name="Google Shape;247;p30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1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1" name="Google Shape;261;p31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2" name="Google Shape;262;p31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4" name="Google Shape;264;p31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7" name="Google Shape;267;p31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69" name="Google Shape;269;p31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3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4" name="Google Shape;274;p3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7" name="Google Shape;277;p32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8" name="Google Shape;278;p32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0" name="Google Shape;290;p32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1" name="Google Shape;291;p32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4" name="Google Shape;294;p32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7" name="Google Shape;297;p33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98" name="Google Shape;298;p33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9" name="Google Shape;299;p33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0" name="Google Shape;300;p33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01" name="Google Shape;301;p33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2" name="Google Shape;302;p3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33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5" name="Google Shape;305;p33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6" name="Google Shape;306;p33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0" name="Google Shape;310;p33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4" name="Google Shape;314;p34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5" name="Google Shape;315;p34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6" name="Google Shape;316;p3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7" name="Google Shape;317;p34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8" name="Google Shape;318;p34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34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7" name="Google Shape;327;p35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8" name="Google Shape;328;p3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3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9" name="Google Shape;339;p3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37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1" name="Google Shape;341;p37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3" name="Google Shape;343;p37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4" name="Google Shape;344;p37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7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7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47" name="Google Shape;347;p37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37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51" name="Google Shape;351;p38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38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3" name="Google Shape;353;p38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54" name="Google Shape;354;p38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55" name="Google Shape;355;p38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6" name="Google Shape;356;p38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7" name="Google Shape;357;p38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8" name="Google Shape;358;p38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2" name="Google Shape;362;p39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3" name="Google Shape;363;p39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4" name="Google Shape;364;p39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65" name="Google Shape;365;p39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6" name="Google Shape;366;p39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7" name="Google Shape;367;p39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39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3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2" name="Google Shape;372;p4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0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0" name="Google Shape;380;p40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1" name="Google Shape;381;p40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1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5" name="Google Shape;385;p4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6" name="Google Shape;386;p41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7" name="Google Shape;387;p41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41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89" name="Google Shape;389;p41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0" name="Google Shape;390;p41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41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2" name="Google Shape;392;p41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3" name="Google Shape;393;p41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5" name="Google Shape;395;p41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6" name="Google Shape;396;p41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41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8" name="Google Shape;398;p41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9" name="Google Shape;399;p4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02" name="Google Shape;402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16" name="Google Shape;416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21" name="Google Shape;421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2" name="Google Shape;422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27" name="Google Shape;427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3" name="Google Shape;443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0" name="Google Shape;450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1" name="Google Shape;451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7" name="Google Shape;457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8" name="Google Shape;458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1" name="Google Shape;461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4" name="Google Shape;474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5" name="Google Shape;475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3" name="Google Shape;48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5" name="Google Shape;485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6" name="Google Shape;486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7" name="Google Shape;497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Relationship Id="rId5" Type="http://schemas.openxmlformats.org/officeDocument/2006/relationships/image" Target="../media/image15.jpg"/><Relationship Id="rId6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/>
          <p:nvPr/>
        </p:nvSpPr>
        <p:spPr>
          <a:xfrm>
            <a:off x="284700" y="4434600"/>
            <a:ext cx="18480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Turing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5" name="Google Shape;505;p63"/>
          <p:cNvSpPr/>
          <p:nvPr/>
        </p:nvSpPr>
        <p:spPr>
          <a:xfrm>
            <a:off x="2132824" y="4434600"/>
            <a:ext cx="12936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February</a:t>
            </a: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27, 2026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6" name="Google Shape;506;p63"/>
          <p:cNvSpPr txBox="1"/>
          <p:nvPr>
            <p:ph type="title"/>
          </p:nvPr>
        </p:nvSpPr>
        <p:spPr>
          <a:xfrm>
            <a:off x="291800" y="465200"/>
            <a:ext cx="5928300" cy="8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b="1"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Turing x UCSB x ACM – </a:t>
            </a:r>
            <a:r>
              <a:rPr lang="en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Product Development Mentorship Program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/>
          <p:nvPr/>
        </p:nvSpPr>
        <p:spPr>
          <a:xfrm>
            <a:off x="284700" y="2037676"/>
            <a:ext cx="2055000" cy="26322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2" name="Google Shape;512;p64"/>
          <p:cNvSpPr/>
          <p:nvPr/>
        </p:nvSpPr>
        <p:spPr>
          <a:xfrm>
            <a:off x="2457075" y="2037676"/>
            <a:ext cx="2055000" cy="2632200"/>
          </a:xfrm>
          <a:prstGeom prst="roundRect">
            <a:avLst>
              <a:gd fmla="val 102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3" name="Google Shape;513;p64"/>
          <p:cNvSpPr/>
          <p:nvPr/>
        </p:nvSpPr>
        <p:spPr>
          <a:xfrm>
            <a:off x="4629475" y="2037676"/>
            <a:ext cx="2055000" cy="2632200"/>
          </a:xfrm>
          <a:prstGeom prst="roundRect">
            <a:avLst>
              <a:gd fmla="val 100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4" name="Google Shape;514;p64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Objectives &amp; Expectations</a:t>
            </a:r>
            <a:endParaRPr sz="1400"/>
          </a:p>
        </p:txBody>
      </p:sp>
      <p:sp>
        <p:nvSpPr>
          <p:cNvPr id="515" name="Google Shape;515;p64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4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Project Understanding</a:t>
            </a:r>
            <a:endParaRPr sz="1400"/>
          </a:p>
        </p:txBody>
      </p:sp>
      <p:sp>
        <p:nvSpPr>
          <p:cNvPr id="517" name="Google Shape;517;p6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64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519" name="Google Shape;519;p64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20" name="Google Shape;520;p64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21" name="Google Shape;521;p64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22" name="Google Shape;522;p64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4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4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5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Objectives.</a:t>
            </a: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r>
              <a:rPr lang="en"/>
              <a:t>Learn the E2E from idea → architecture → implementing a prototype → presenting demo, using the most relevant tools in the industry in 2026. </a:t>
            </a:r>
            <a:endParaRPr/>
          </a:p>
        </p:txBody>
      </p:sp>
      <p:sp>
        <p:nvSpPr>
          <p:cNvPr id="530" name="Google Shape;530;p6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6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Expectations</a:t>
            </a: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. </a:t>
            </a:r>
            <a:r>
              <a:rPr lang="en"/>
              <a:t>The students need to spend at least 3 hours outside class per week on the project. </a:t>
            </a:r>
            <a:endParaRPr/>
          </a:p>
        </p:txBody>
      </p:sp>
      <p:sp>
        <p:nvSpPr>
          <p:cNvPr id="536" name="Google Shape;536;p6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7"/>
          <p:cNvSpPr/>
          <p:nvPr/>
        </p:nvSpPr>
        <p:spPr>
          <a:xfrm>
            <a:off x="284700" y="2169300"/>
            <a:ext cx="5855700" cy="23469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2" name="Google Shape;542;p6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6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</a:t>
            </a:r>
            <a:r>
              <a:rPr lang="en">
                <a:highlight>
                  <a:schemeClr val="accent2"/>
                </a:highlight>
              </a:rPr>
              <a:t>Industry Advisors</a:t>
            </a:r>
            <a:endParaRPr/>
          </a:p>
        </p:txBody>
      </p:sp>
      <p:sp>
        <p:nvSpPr>
          <p:cNvPr id="544" name="Google Shape;544;p67"/>
          <p:cNvSpPr/>
          <p:nvPr/>
        </p:nvSpPr>
        <p:spPr>
          <a:xfrm>
            <a:off x="499690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45" name="Google Shape;545;p67" title="Gemini_Generated_Image_j0azqqj0azqqj0az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361" l="16824" r="13857" t="11320"/>
          <a:stretch/>
        </p:blipFill>
        <p:spPr>
          <a:xfrm>
            <a:off x="477231" y="2396357"/>
            <a:ext cx="1243500" cy="1243500"/>
          </a:xfrm>
          <a:prstGeom prst="ellipse">
            <a:avLst/>
          </a:prstGeom>
        </p:spPr>
      </p:pic>
      <p:sp>
        <p:nvSpPr>
          <p:cNvPr id="546" name="Google Shape;546;p67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Irene Fan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/>
              <a:t>AI Product Manager, Turing Intelligence</a:t>
            </a:r>
            <a:endParaRPr i="1" sz="800"/>
          </a:p>
        </p:txBody>
      </p:sp>
      <p:sp>
        <p:nvSpPr>
          <p:cNvPr id="547" name="Google Shape;547;p67"/>
          <p:cNvSpPr txBox="1"/>
          <p:nvPr>
            <p:ph idx="8" type="body"/>
          </p:nvPr>
        </p:nvSpPr>
        <p:spPr>
          <a:xfrm>
            <a:off x="4671105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Sinchan Banerjee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/>
              <a:t>Founder of Pear Healthcare, Engineer</a:t>
            </a:r>
            <a:endParaRPr sz="800"/>
          </a:p>
        </p:txBody>
      </p:sp>
      <p:sp>
        <p:nvSpPr>
          <p:cNvPr id="548" name="Google Shape;548;p67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Jason Meil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/>
              <a:t>VP, Head of Products &amp; Solutions</a:t>
            </a:r>
            <a:endParaRPr sz="800"/>
          </a:p>
        </p:txBody>
      </p:sp>
      <p:sp>
        <p:nvSpPr>
          <p:cNvPr id="549" name="Google Shape;549;p67"/>
          <p:cNvSpPr txBox="1"/>
          <p:nvPr>
            <p:ph idx="13" type="body"/>
          </p:nvPr>
        </p:nvSpPr>
        <p:spPr>
          <a:xfrm>
            <a:off x="1865315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Agnibha Sarkar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/>
              <a:t>Software Engineer, Turing Intelligence</a:t>
            </a:r>
            <a:endParaRPr sz="800"/>
          </a:p>
        </p:txBody>
      </p:sp>
      <p:sp>
        <p:nvSpPr>
          <p:cNvPr id="550" name="Google Shape;550;p67"/>
          <p:cNvSpPr/>
          <p:nvPr/>
        </p:nvSpPr>
        <p:spPr>
          <a:xfrm>
            <a:off x="189182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1" name="Google Shape;551;p67"/>
          <p:cNvSpPr/>
          <p:nvPr/>
        </p:nvSpPr>
        <p:spPr>
          <a:xfrm>
            <a:off x="328196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2" name="Google Shape;552;p67"/>
          <p:cNvSpPr/>
          <p:nvPr/>
        </p:nvSpPr>
        <p:spPr>
          <a:xfrm>
            <a:off x="4672115" y="2410729"/>
            <a:ext cx="1241100" cy="1241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53" name="Google Shape;553;p67" title="1743465661785.jpe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5516" l="13120" r="14750" t="12349"/>
          <a:stretch/>
        </p:blipFill>
        <p:spPr>
          <a:xfrm>
            <a:off x="4672731" y="2396357"/>
            <a:ext cx="1243500" cy="1243500"/>
          </a:xfrm>
          <a:prstGeom prst="ellipse">
            <a:avLst/>
          </a:prstGeom>
        </p:spPr>
      </p:pic>
      <p:pic>
        <p:nvPicPr>
          <p:cNvPr id="554" name="Google Shape;554;p67" title="1749747005594.jpe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6494" l="14920" r="18679" t="7105"/>
          <a:stretch/>
        </p:blipFill>
        <p:spPr>
          <a:xfrm>
            <a:off x="3257481" y="2396357"/>
            <a:ext cx="1243500" cy="1243500"/>
          </a:xfrm>
          <a:prstGeom prst="ellipse">
            <a:avLst/>
          </a:prstGeom>
        </p:spPr>
      </p:pic>
      <p:pic>
        <p:nvPicPr>
          <p:cNvPr id="555" name="Google Shape;555;p67" title="1740721870298.jpeg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6131" y="2396357"/>
            <a:ext cx="1243500" cy="124350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8"/>
          <p:cNvSpPr txBox="1"/>
          <p:nvPr/>
        </p:nvSpPr>
        <p:spPr>
          <a:xfrm>
            <a:off x="284700" y="474750"/>
            <a:ext cx="63999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Schedule Overview</a:t>
            </a:r>
            <a:endParaRPr sz="24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61" name="Google Shape;561;p6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68"/>
          <p:cNvSpPr/>
          <p:nvPr/>
        </p:nvSpPr>
        <p:spPr>
          <a:xfrm>
            <a:off x="877175" y="1036675"/>
            <a:ext cx="7363200" cy="39075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aphicFrame>
        <p:nvGraphicFramePr>
          <p:cNvPr id="563" name="Google Shape;563;p68"/>
          <p:cNvGraphicFramePr/>
          <p:nvPr/>
        </p:nvGraphicFramePr>
        <p:xfrm>
          <a:off x="1547163" y="1454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{B03A3DDC-8EB5-4652-BFA2-981292C0BD82}</a:tableStyleId>
              </a:tblPr>
              <a:tblGrid>
                <a:gridCol w="1168475"/>
                <a:gridCol w="4866950"/>
              </a:tblGrid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1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Course Kickoff + Problem Scoping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2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Agentic AI &amp; Fundamentals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3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LangGraph &amp; RAG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4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HITL Systems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5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Industry Realities of Building AI Products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6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Architecture Design &amp; Eng Design Doc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7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[Student Presentation]</a:t>
                      </a: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Architecture Presentations + Critique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8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Coding Copilots in Practice &amp; Development Cycle Integration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9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End-to-end Implementation &amp; Evaluation 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Week 10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[Student Presentation]</a:t>
                      </a:r>
                      <a:r>
                        <a:rPr lang="en" sz="1100">
                          <a:latin typeface="Instrument Sans"/>
                          <a:ea typeface="Instrument Sans"/>
                          <a:cs typeface="Instrument Sans"/>
                          <a:sym typeface="Instrument Sans"/>
                        </a:rPr>
                        <a:t> Demo Week (Final Prototype + Documentation)</a:t>
                      </a:r>
                      <a:endParaRPr sz="1100">
                        <a:latin typeface="Instrument Sans"/>
                        <a:ea typeface="Instrument Sans"/>
                        <a:cs typeface="Instrument Sans"/>
                        <a:sym typeface="Instrument Sans"/>
                      </a:endParaRPr>
                    </a:p>
                  </a:txBody>
                  <a:tcPr marT="63500" marB="63500" marR="63500" marL="63500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4" name="Google Shape;564;p68"/>
          <p:cNvSpPr txBox="1"/>
          <p:nvPr/>
        </p:nvSpPr>
        <p:spPr>
          <a:xfrm>
            <a:off x="1441568" y="1174468"/>
            <a:ext cx="1435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Subject to change</a:t>
            </a:r>
            <a:endParaRPr i="1"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9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Project</a:t>
            </a: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Initial Context</a:t>
            </a: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.</a:t>
            </a:r>
            <a:r>
              <a:rPr lang="en">
                <a:highlight>
                  <a:schemeClr val="accent1"/>
                </a:highlight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CBRE wants to cut spending on call centers. 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The call centers are set up to handle building maintenance and repair needs. 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CBRE currently has a solution that automates calls, but it’s wrong all the time.</a:t>
            </a:r>
            <a:endParaRPr sz="3000"/>
          </a:p>
        </p:txBody>
      </p:sp>
      <p:sp>
        <p:nvSpPr>
          <p:cNvPr id="570" name="Google Shape;570;p6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0"/>
          <p:cNvSpPr/>
          <p:nvPr/>
        </p:nvSpPr>
        <p:spPr>
          <a:xfrm>
            <a:off x="3389125" y="474900"/>
            <a:ext cx="5467800" cy="4193700"/>
          </a:xfrm>
          <a:prstGeom prst="roundRect">
            <a:avLst>
              <a:gd fmla="val 455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76" name="Google Shape;57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377" y="474750"/>
            <a:ext cx="2276700" cy="4194300"/>
          </a:xfrm>
          <a:prstGeom prst="roundRect">
            <a:avLst>
              <a:gd fmla="val 3971" name="adj"/>
            </a:avLst>
          </a:prstGeom>
          <a:noFill/>
          <a:ln>
            <a:noFill/>
          </a:ln>
        </p:spPr>
      </p:pic>
      <p:sp>
        <p:nvSpPr>
          <p:cNvPr id="577" name="Google Shape;577;p70"/>
          <p:cNvSpPr txBox="1"/>
          <p:nvPr/>
        </p:nvSpPr>
        <p:spPr>
          <a:xfrm>
            <a:off x="288350" y="2088525"/>
            <a:ext cx="227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CBRE</a:t>
            </a:r>
            <a:endParaRPr sz="24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78" name="Google Shape;578;p70"/>
          <p:cNvSpPr txBox="1"/>
          <p:nvPr/>
        </p:nvSpPr>
        <p:spPr>
          <a:xfrm>
            <a:off x="1055673" y="1749450"/>
            <a:ext cx="742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Client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9" name="Google Shape;579;p70"/>
          <p:cNvSpPr txBox="1"/>
          <p:nvPr/>
        </p:nvSpPr>
        <p:spPr>
          <a:xfrm>
            <a:off x="3389125" y="648750"/>
            <a:ext cx="5467800" cy="3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27430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In-Class Notes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Success rate is 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unknown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but we know the current solution calls 911 for many low severity problems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Right now no human can catch the routing mistake before it happens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solution will need to integrate with their ticketing system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Transcripts are available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 examples: water leakage, door broken, elevator broken, window smashed, etc.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Can we assume there’s a code / category for each problem ??  → we agreed that it’s 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reasonable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to assume there are codes for common problems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Assumption on the current solution: hybrid system - auto-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classification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on </a:t>
            </a:r>
            <a:r>
              <a:rPr lang="en" sz="1200" strike="sngStrike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priority 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urgency → this part is wrong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rabi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new solution will need to use historical data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lphaL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How?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AutoNum type="alphaLcPeriod"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What? → Parse Entities from Transcript. Call routing </a:t>
            </a: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history. Outcome of the call. 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0" name="Google Shape;580;p7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1"/>
          <p:cNvSpPr/>
          <p:nvPr/>
        </p:nvSpPr>
        <p:spPr>
          <a:xfrm>
            <a:off x="284700" y="1713838"/>
            <a:ext cx="8572200" cy="646200"/>
          </a:xfrm>
          <a:prstGeom prst="roundRect">
            <a:avLst>
              <a:gd fmla="val 2947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6" name="Google Shape;586;p71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</a:t>
            </a:r>
            <a:r>
              <a:rPr lang="en">
                <a:highlight>
                  <a:schemeClr val="accent2"/>
                </a:highlight>
              </a:rPr>
              <a:t>steps</a:t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587" name="Google Shape;587;p71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 6</a:t>
            </a:r>
            <a:endParaRPr/>
          </a:p>
        </p:txBody>
      </p:sp>
      <p:sp>
        <p:nvSpPr>
          <p:cNvPr id="588" name="Google Shape;588;p71"/>
          <p:cNvSpPr txBox="1"/>
          <p:nvPr>
            <p:ph idx="4" type="subTitle"/>
          </p:nvPr>
        </p:nvSpPr>
        <p:spPr>
          <a:xfrm>
            <a:off x="1148000" y="1713825"/>
            <a:ext cx="43383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homework: 1-pager business brief</a:t>
            </a:r>
            <a:endParaRPr/>
          </a:p>
        </p:txBody>
      </p:sp>
      <p:sp>
        <p:nvSpPr>
          <p:cNvPr id="589" name="Google Shape;589;p7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2"/>
          <p:cNvSpPr/>
          <p:nvPr/>
        </p:nvSpPr>
        <p:spPr>
          <a:xfrm>
            <a:off x="284700" y="3703425"/>
            <a:ext cx="4227300" cy="9651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5" name="Google Shape;595;p72"/>
          <p:cNvSpPr txBox="1"/>
          <p:nvPr>
            <p:ph type="title"/>
          </p:nvPr>
        </p:nvSpPr>
        <p:spPr>
          <a:xfrm>
            <a:off x="291800" y="465200"/>
            <a:ext cx="56664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96" name="Google Shape;596;p72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2"/>
                </a:highlight>
              </a:rPr>
              <a:t>Questions?</a:t>
            </a:r>
            <a:r>
              <a:rPr lang="en"/>
              <a:t>  Contact</a:t>
            </a:r>
            <a:endParaRPr/>
          </a:p>
        </p:txBody>
      </p:sp>
      <p:sp>
        <p:nvSpPr>
          <p:cNvPr id="597" name="Google Shape;597;p72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irenefanyiran@gmail.com</a:t>
            </a:r>
            <a:endParaRPr/>
          </a:p>
        </p:txBody>
      </p:sp>
      <p:pic>
        <p:nvPicPr>
          <p:cNvPr id="598" name="Google Shape;598;p72" title="Gemini_Generated_Image_j0azqqj0azqqj0az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225" y="3900375"/>
            <a:ext cx="571200" cy="57120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